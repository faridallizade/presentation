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61" r:id="rId5"/>
    <p:sldId id="273" r:id="rId6"/>
    <p:sldId id="262" r:id="rId7"/>
    <p:sldId id="274" r:id="rId8"/>
    <p:sldId id="263" r:id="rId9"/>
    <p:sldId id="258" r:id="rId10"/>
    <p:sldId id="275" r:id="rId11"/>
    <p:sldId id="264" r:id="rId12"/>
    <p:sldId id="276" r:id="rId13"/>
    <p:sldId id="265" r:id="rId14"/>
    <p:sldId id="266" r:id="rId15"/>
    <p:sldId id="259" r:id="rId16"/>
    <p:sldId id="277" r:id="rId17"/>
    <p:sldId id="267" r:id="rId18"/>
    <p:sldId id="278" r:id="rId19"/>
    <p:sldId id="268" r:id="rId20"/>
    <p:sldId id="279" r:id="rId21"/>
    <p:sldId id="269" r:id="rId22"/>
    <p:sldId id="270" r:id="rId23"/>
    <p:sldId id="260" r:id="rId24"/>
    <p:sldId id="280" r:id="rId25"/>
    <p:sldId id="271" r:id="rId26"/>
    <p:sldId id="281" r:id="rId2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75B6"/>
    <a:srgbClr val="1E1E1E"/>
    <a:srgbClr val="000000"/>
    <a:srgbClr val="DEA900"/>
    <a:srgbClr val="B88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8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tr-T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tr-TR"/>
          </a:p>
        </p:txBody>
      </p:sp>
      <p:sp>
        <p:nvSpPr>
          <p:cNvPr id="4" name="Veri Yer Tutucusu 3"/>
          <p:cNvSpPr>
            <a:spLocks noGrp="1"/>
          </p:cNvSpPr>
          <p:nvPr>
            <p:ph type="dt" sz="half" idx="10"/>
          </p:nvPr>
        </p:nvSpPr>
        <p:spPr/>
        <p:txBody>
          <a:bodyPr/>
          <a:lstStyle/>
          <a:p>
            <a:fld id="{01EBA943-9267-496B-BCC8-0012CE28A60C}" type="datetimeFigureOut">
              <a:rPr lang="tr-TR" smtClean="0"/>
              <a:t>1.10.2023</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38149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01EBA943-9267-496B-BCC8-0012CE28A60C}" type="datetimeFigureOut">
              <a:rPr lang="tr-TR" smtClean="0"/>
              <a:t>1.10.2023</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660081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tr-T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Veri Yer Tutucusu 3"/>
          <p:cNvSpPr>
            <a:spLocks noGrp="1"/>
          </p:cNvSpPr>
          <p:nvPr>
            <p:ph type="dt" sz="half" idx="10"/>
          </p:nvPr>
        </p:nvSpPr>
        <p:spPr/>
        <p:txBody>
          <a:bodyPr/>
          <a:lstStyle/>
          <a:p>
            <a:fld id="{01EBA943-9267-496B-BCC8-0012CE28A60C}" type="datetimeFigureOut">
              <a:rPr lang="tr-TR" smtClean="0"/>
              <a:t>1.10.2023</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3002467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01EBA943-9267-496B-BCC8-0012CE28A60C}" type="datetimeFigureOut">
              <a:rPr lang="tr-TR" smtClean="0"/>
              <a:t>1.10.2023</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418361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01EBA943-9267-496B-BCC8-0012CE28A60C}" type="datetimeFigureOut">
              <a:rPr lang="tr-TR" smtClean="0"/>
              <a:t>1.10.2023</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752008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01EBA943-9267-496B-BCC8-0012CE28A60C}" type="datetimeFigureOut">
              <a:rPr lang="tr-TR" smtClean="0"/>
              <a:t>1.10.2023</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3448810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01EBA943-9267-496B-BCC8-0012CE28A60C}" type="datetimeFigureOut">
              <a:rPr lang="tr-TR" smtClean="0"/>
              <a:t>1.10.2023</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503766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01EBA943-9267-496B-BCC8-0012CE28A60C}" type="datetimeFigureOut">
              <a:rPr lang="tr-TR" smtClean="0"/>
              <a:t>1.10.2023</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2044288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01EBA943-9267-496B-BCC8-0012CE28A60C}" type="datetimeFigureOut">
              <a:rPr lang="tr-TR" smtClean="0"/>
              <a:t>1.10.2023</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1495270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01EBA943-9267-496B-BCC8-0012CE28A60C}" type="datetimeFigureOut">
              <a:rPr lang="tr-TR" smtClean="0"/>
              <a:t>1.10.2023</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216865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01EBA943-9267-496B-BCC8-0012CE28A60C}" type="datetimeFigureOut">
              <a:rPr lang="tr-TR" smtClean="0"/>
              <a:t>1.10.2023</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97C88DF0-E98A-41D6-BC13-790248DAB75D}" type="slidenum">
              <a:rPr lang="tr-TR" smtClean="0"/>
              <a:t>‹#›</a:t>
            </a:fld>
            <a:endParaRPr lang="tr-TR"/>
          </a:p>
        </p:txBody>
      </p:sp>
    </p:spTree>
    <p:extLst>
      <p:ext uri="{BB962C8B-B14F-4D97-AF65-F5344CB8AC3E}">
        <p14:creationId xmlns:p14="http://schemas.microsoft.com/office/powerpoint/2010/main" val="2577452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EBA943-9267-496B-BCC8-0012CE28A60C}" type="datetimeFigureOut">
              <a:rPr lang="tr-TR" smtClean="0"/>
              <a:t>1.10.2023</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88DF0-E98A-41D6-BC13-790248DAB75D}" type="slidenum">
              <a:rPr lang="tr-TR" smtClean="0"/>
              <a:t>‹#›</a:t>
            </a:fld>
            <a:endParaRPr lang="tr-TR"/>
          </a:p>
        </p:txBody>
      </p:sp>
    </p:spTree>
    <p:extLst>
      <p:ext uri="{BB962C8B-B14F-4D97-AF65-F5344CB8AC3E}">
        <p14:creationId xmlns:p14="http://schemas.microsoft.com/office/powerpoint/2010/main" val="49893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9.png"/><Relationship Id="rId5" Type="http://schemas.openxmlformats.org/officeDocument/2006/relationships/oleObject" Target="../embeddings/oleObject3.bin"/><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1.png"/><Relationship Id="rId5" Type="http://schemas.openxmlformats.org/officeDocument/2006/relationships/oleObject" Target="../embeddings/oleObject5.bin"/><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1040384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2E75B6"/>
                </a:solidFill>
              </a:endParaRP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0841389"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32" name="Metin kutusu 31"/>
          <p:cNvSpPr txBox="1"/>
          <p:nvPr/>
        </p:nvSpPr>
        <p:spPr>
          <a:xfrm>
            <a:off x="4765040" y="1107414"/>
            <a:ext cx="7426960" cy="1015663"/>
          </a:xfrm>
          <a:prstGeom prst="rect">
            <a:avLst/>
          </a:prstGeom>
          <a:noFill/>
        </p:spPr>
        <p:txBody>
          <a:bodyPr wrap="square" rtlCol="0">
            <a:spAutoFit/>
          </a:bodyPr>
          <a:lstStyle/>
          <a:p>
            <a:r>
              <a:rPr lang="en-US" sz="6000" b="1" dirty="0" smtClean="0">
                <a:solidFill>
                  <a:srgbClr val="0070C0"/>
                </a:solidFill>
                <a:latin typeface="Century Gothic" panose="020B0502020202020204" pitchFamily="34" charset="0"/>
              </a:rPr>
              <a:t>Search </a:t>
            </a:r>
            <a:r>
              <a:rPr lang="en-US" sz="6000" b="1" dirty="0" err="1" smtClean="0">
                <a:solidFill>
                  <a:srgbClr val="0070C0"/>
                </a:solidFill>
                <a:latin typeface="Century Gothic" panose="020B0502020202020204" pitchFamily="34" charset="0"/>
              </a:rPr>
              <a:t>Anlay</a:t>
            </a:r>
            <a:r>
              <a:rPr lang="az-Latn-AZ" sz="6000" b="1" dirty="0" smtClean="0">
                <a:solidFill>
                  <a:srgbClr val="0070C0"/>
                </a:solidFill>
                <a:latin typeface="Century Gothic" panose="020B0502020202020204" pitchFamily="34" charset="0"/>
              </a:rPr>
              <a:t>ışı</a:t>
            </a:r>
            <a:endParaRPr lang="tr-TR" sz="6000" b="1" dirty="0">
              <a:solidFill>
                <a:srgbClr val="0070C0"/>
              </a:solidFill>
              <a:latin typeface="Century Gothic" panose="020B0502020202020204" pitchFamily="34" charset="0"/>
            </a:endParaRPr>
          </a:p>
        </p:txBody>
      </p:sp>
      <p:sp>
        <p:nvSpPr>
          <p:cNvPr id="34" name="Metin kutusu 33"/>
          <p:cNvSpPr txBox="1"/>
          <p:nvPr/>
        </p:nvSpPr>
        <p:spPr>
          <a:xfrm>
            <a:off x="4995930" y="2533471"/>
            <a:ext cx="3058160" cy="1200329"/>
          </a:xfrm>
          <a:prstGeom prst="rect">
            <a:avLst/>
          </a:prstGeom>
          <a:noFill/>
        </p:spPr>
        <p:txBody>
          <a:bodyPr wrap="square" rtlCol="0">
            <a:spAutoFit/>
          </a:bodyPr>
          <a:lstStyle/>
          <a:p>
            <a:pPr marL="285750" indent="-285750">
              <a:buFont typeface="Arial" panose="020B0604020202020204" pitchFamily="34" charset="0"/>
              <a:buChar char="•"/>
            </a:pPr>
            <a:r>
              <a:rPr lang="az-Latn-AZ" i="1" dirty="0" smtClean="0">
                <a:solidFill>
                  <a:srgbClr val="0070C0"/>
                </a:solidFill>
                <a:latin typeface="Century Gothic" panose="020B0502020202020204" pitchFamily="34" charset="0"/>
              </a:rPr>
              <a:t>Ternary Search</a:t>
            </a:r>
          </a:p>
          <a:p>
            <a:pPr marL="285750" indent="-285750">
              <a:buFont typeface="Arial" panose="020B0604020202020204" pitchFamily="34" charset="0"/>
              <a:buChar char="•"/>
            </a:pPr>
            <a:r>
              <a:rPr lang="az-Latn-AZ" i="1" dirty="0" smtClean="0">
                <a:solidFill>
                  <a:srgbClr val="DEA900"/>
                </a:solidFill>
                <a:latin typeface="Century Gothic" panose="020B0502020202020204" pitchFamily="34" charset="0"/>
              </a:rPr>
              <a:t>Binary Search</a:t>
            </a:r>
          </a:p>
          <a:p>
            <a:pPr marL="285750" indent="-285750">
              <a:buFont typeface="Arial" panose="020B0604020202020204" pitchFamily="34" charset="0"/>
              <a:buChar char="•"/>
            </a:pPr>
            <a:r>
              <a:rPr lang="az-Latn-AZ" i="1" dirty="0" smtClean="0">
                <a:solidFill>
                  <a:srgbClr val="00B050"/>
                </a:solidFill>
                <a:latin typeface="Century Gothic" panose="020B0502020202020204" pitchFamily="34" charset="0"/>
              </a:rPr>
              <a:t>Jump Search</a:t>
            </a:r>
            <a:endParaRPr lang="az-Latn-AZ" i="1" dirty="0" smtClean="0">
              <a:solidFill>
                <a:srgbClr val="7030A0"/>
              </a:solidFill>
              <a:latin typeface="Century Gothic" panose="020B0502020202020204" pitchFamily="34" charset="0"/>
            </a:endParaRPr>
          </a:p>
          <a:p>
            <a:pPr marL="285750" indent="-285750">
              <a:buFont typeface="Arial" panose="020B0604020202020204" pitchFamily="34" charset="0"/>
              <a:buChar char="•"/>
            </a:pPr>
            <a:r>
              <a:rPr lang="az-Latn-AZ" i="1" dirty="0" smtClean="0">
                <a:solidFill>
                  <a:srgbClr val="7030A0"/>
                </a:solidFill>
                <a:latin typeface="Century Gothic" panose="020B0502020202020204" pitchFamily="34" charset="0"/>
              </a:rPr>
              <a:t>Fibonacci Search</a:t>
            </a:r>
          </a:p>
        </p:txBody>
      </p:sp>
      <p:sp>
        <p:nvSpPr>
          <p:cNvPr id="35" name="Çapraz Köşesi Kesik Dikdörtgen 34"/>
          <p:cNvSpPr/>
          <p:nvPr/>
        </p:nvSpPr>
        <p:spPr>
          <a:xfrm>
            <a:off x="3715770" y="782320"/>
            <a:ext cx="7863840" cy="3608977"/>
          </a:xfrm>
          <a:prstGeom prst="snip2Diag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26079395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E75B6"/>
        </a:solidFill>
        <a:effectLst/>
      </p:bgPr>
    </p:bg>
    <p:spTree>
      <p:nvGrpSpPr>
        <p:cNvPr id="1" name=""/>
        <p:cNvGrpSpPr/>
        <p:nvPr/>
      </p:nvGrpSpPr>
      <p:grpSpPr>
        <a:xfrm>
          <a:off x="0" y="0"/>
          <a:ext cx="0" cy="0"/>
          <a:chOff x="0" y="0"/>
          <a:chExt cx="0" cy="0"/>
        </a:xfrm>
      </p:grpSpPr>
      <p:grpSp>
        <p:nvGrpSpPr>
          <p:cNvPr id="16" name="Grup 15"/>
          <p:cNvGrpSpPr/>
          <p:nvPr/>
        </p:nvGrpSpPr>
        <p:grpSpPr>
          <a:xfrm>
            <a:off x="184558" y="-2177"/>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0841389"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2" name="Metin kutusu 1"/>
          <p:cNvSpPr txBox="1"/>
          <p:nvPr/>
        </p:nvSpPr>
        <p:spPr>
          <a:xfrm>
            <a:off x="1696720" y="548640"/>
            <a:ext cx="9432834" cy="3139321"/>
          </a:xfrm>
          <a:prstGeom prst="rect">
            <a:avLst/>
          </a:prstGeom>
          <a:noFill/>
        </p:spPr>
        <p:txBody>
          <a:bodyPr wrap="square" rtlCol="0">
            <a:spAutoFit/>
          </a:bodyPr>
          <a:lstStyle/>
          <a:p>
            <a:r>
              <a:rPr lang="az-Latn-AZ" b="1" dirty="0"/>
              <a:t>Ternary search </a:t>
            </a:r>
            <a:r>
              <a:rPr lang="az-Latn-AZ" dirty="0" smtClean="0"/>
              <a:t>massivdə</a:t>
            </a:r>
            <a:r>
              <a:rPr lang="az-Latn-AZ" dirty="0"/>
              <a:t> elementi tapmaq üçün istifadə edilən böl və fəth et alqoritmidir. Bu binar </a:t>
            </a:r>
            <a:r>
              <a:rPr lang="az-Latn-AZ" dirty="0" smtClean="0"/>
              <a:t>axtarışa</a:t>
            </a:r>
            <a:r>
              <a:rPr lang="az-Latn-AZ" dirty="0"/>
              <a:t> bənzəyir , lakin bu alqoritmdə biz verilmiş massivi üç hissəyə bölürük. Ternary search binary searchdən fərqli olaraq vaxtın mürəkkəbliyini bir az daha azaldır</a:t>
            </a:r>
            <a:r>
              <a:rPr lang="az-Latn-AZ" dirty="0" smtClean="0"/>
              <a:t>. </a:t>
            </a:r>
            <a:r>
              <a:rPr lang="az-Latn-AZ" dirty="0"/>
              <a:t>Üçlü axtarış məlumatların bərabər paylandığı və axtarış sahəsi böyük olduqda xüsusilə faydalıdır. Axtarış sahəsini tez bir zamanda daraldır, çünki hər addımda qalan boşluğun üçdə ikisini aradan qaldırır. Bununla belə, qeyd etmək vacibdir ki, üçlü axtarış həmişə ikili axtarışdan daha səmərəli olmur, xüsusən də məlumatlar bərabər paylanmadıqda və ya çoxlu təkrar dəyərlər olduqda</a:t>
            </a:r>
            <a:r>
              <a:rPr lang="az-Latn-AZ" dirty="0" smtClean="0"/>
              <a:t>. </a:t>
            </a:r>
            <a:endParaRPr lang="en-US" dirty="0" smtClean="0"/>
          </a:p>
          <a:p>
            <a:r>
              <a:rPr lang="en-US" dirty="0"/>
              <a:t> </a:t>
            </a:r>
            <a:endParaRPr lang="tr-TR" dirty="0"/>
          </a:p>
          <a:p>
            <a:endParaRPr lang="az-Latn-AZ" dirty="0" smtClean="0"/>
          </a:p>
          <a:p>
            <a:endParaRPr lang="tr-TR" dirty="0"/>
          </a:p>
          <a:p>
            <a:endParaRPr lang="tr-TR" dirty="0"/>
          </a:p>
        </p:txBody>
      </p:sp>
    </p:spTree>
    <p:extLst>
      <p:ext uri="{BB962C8B-B14F-4D97-AF65-F5344CB8AC3E}">
        <p14:creationId xmlns:p14="http://schemas.microsoft.com/office/powerpoint/2010/main" val="1689398552"/>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E75B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881360"/>
      </p:ext>
    </p:extLst>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0841389"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2" name="Metin kutusu 1"/>
          <p:cNvSpPr txBox="1"/>
          <p:nvPr/>
        </p:nvSpPr>
        <p:spPr>
          <a:xfrm>
            <a:off x="1696720" y="548640"/>
            <a:ext cx="9432834" cy="6740307"/>
          </a:xfrm>
          <a:prstGeom prst="rect">
            <a:avLst/>
          </a:prstGeom>
          <a:noFill/>
        </p:spPr>
        <p:txBody>
          <a:bodyPr wrap="square" rtlCol="0">
            <a:spAutoFit/>
          </a:bodyPr>
          <a:lstStyle/>
          <a:p>
            <a:r>
              <a:rPr lang="az-Latn-AZ" b="1" dirty="0"/>
              <a:t>Ternary search işləmə prinsipi</a:t>
            </a:r>
            <a:r>
              <a:rPr lang="az-Latn-AZ" b="1" dirty="0" smtClean="0"/>
              <a:t>:</a:t>
            </a:r>
            <a:endParaRPr lang="tr-TR" b="1" dirty="0"/>
          </a:p>
          <a:p>
            <a:r>
              <a:rPr lang="en-US" dirty="0" smtClean="0"/>
              <a:t> 1.Aralığı </a:t>
            </a:r>
            <a:r>
              <a:rPr lang="en-US" dirty="0" err="1" smtClean="0"/>
              <a:t>üç</a:t>
            </a:r>
            <a:r>
              <a:rPr lang="en-US" dirty="0" smtClean="0"/>
              <a:t> </a:t>
            </a:r>
            <a:r>
              <a:rPr lang="en-US" dirty="0" err="1" smtClean="0"/>
              <a:t>bərabər</a:t>
            </a:r>
            <a:r>
              <a:rPr lang="en-US" dirty="0" smtClean="0"/>
              <a:t> </a:t>
            </a:r>
            <a:r>
              <a:rPr lang="en-US" dirty="0" err="1" smtClean="0"/>
              <a:t>hissəyə</a:t>
            </a:r>
            <a:r>
              <a:rPr lang="en-US" dirty="0" smtClean="0"/>
              <a:t> </a:t>
            </a:r>
            <a:r>
              <a:rPr lang="en-US" dirty="0" err="1" smtClean="0"/>
              <a:t>bölür</a:t>
            </a:r>
            <a:r>
              <a:rPr lang="en-US" dirty="0" smtClean="0"/>
              <a:t>. </a:t>
            </a:r>
            <a:r>
              <a:rPr lang="en-US" dirty="0" err="1" smtClean="0"/>
              <a:t>Başlanğıcdan</a:t>
            </a:r>
            <a:r>
              <a:rPr lang="en-US" dirty="0" smtClean="0"/>
              <a:t> </a:t>
            </a:r>
            <a:r>
              <a:rPr lang="en-US" dirty="0" err="1" smtClean="0"/>
              <a:t>yolun</a:t>
            </a:r>
            <a:r>
              <a:rPr lang="en-US" dirty="0" smtClean="0"/>
              <a:t> </a:t>
            </a:r>
            <a:r>
              <a:rPr lang="en-US" dirty="0" err="1" smtClean="0"/>
              <a:t>üçdə</a:t>
            </a:r>
            <a:r>
              <a:rPr lang="en-US" dirty="0" smtClean="0"/>
              <a:t> </a:t>
            </a:r>
            <a:r>
              <a:rPr lang="en-US" dirty="0" err="1" smtClean="0"/>
              <a:t>biri</a:t>
            </a:r>
            <a:r>
              <a:rPr lang="en-US" dirty="0" smtClean="0"/>
              <a:t> </a:t>
            </a:r>
            <a:r>
              <a:rPr lang="en-US" dirty="0" err="1" smtClean="0"/>
              <a:t>və</a:t>
            </a:r>
            <a:r>
              <a:rPr lang="en-US" dirty="0" smtClean="0"/>
              <a:t> </a:t>
            </a:r>
            <a:r>
              <a:rPr lang="en-US" dirty="0" err="1" smtClean="0"/>
              <a:t>başlanğıcdan</a:t>
            </a:r>
            <a:r>
              <a:rPr lang="en-US" dirty="0" smtClean="0"/>
              <a:t> </a:t>
            </a:r>
            <a:r>
              <a:rPr lang="en-US" dirty="0" err="1" smtClean="0"/>
              <a:t>yolun</a:t>
            </a:r>
            <a:r>
              <a:rPr lang="en-US" dirty="0" smtClean="0"/>
              <a:t> </a:t>
            </a:r>
            <a:r>
              <a:rPr lang="en-US" dirty="0" err="1" smtClean="0"/>
              <a:t>üçdə</a:t>
            </a:r>
            <a:r>
              <a:rPr lang="en-US" dirty="0" smtClean="0"/>
              <a:t> </a:t>
            </a:r>
            <a:r>
              <a:rPr lang="en-US" dirty="0" err="1" smtClean="0"/>
              <a:t>ikisiv</a:t>
            </a:r>
            <a:r>
              <a:rPr lang="en-US" dirty="0" smtClean="0"/>
              <a:t> </a:t>
            </a:r>
            <a:r>
              <a:rPr lang="en-US" dirty="0" err="1" smtClean="0"/>
              <a:t>olan</a:t>
            </a:r>
            <a:r>
              <a:rPr lang="en-US" dirty="0" smtClean="0"/>
              <a:t> </a:t>
            </a:r>
            <a:r>
              <a:rPr lang="en-US" dirty="0" err="1" smtClean="0"/>
              <a:t>iki</a:t>
            </a:r>
            <a:r>
              <a:rPr lang="en-US" dirty="0" smtClean="0"/>
              <a:t> </a:t>
            </a:r>
            <a:r>
              <a:rPr lang="en-US" dirty="0" err="1" smtClean="0"/>
              <a:t>orta</a:t>
            </a:r>
            <a:r>
              <a:rPr lang="en-US" dirty="0" smtClean="0"/>
              <a:t> </a:t>
            </a:r>
            <a:r>
              <a:rPr lang="en-US" dirty="0" err="1" smtClean="0"/>
              <a:t>nöqtəni</a:t>
            </a:r>
            <a:r>
              <a:rPr lang="en-US" dirty="0" smtClean="0"/>
              <a:t> </a:t>
            </a:r>
            <a:r>
              <a:rPr lang="en-US" dirty="0" err="1" smtClean="0"/>
              <a:t>hesablayır</a:t>
            </a:r>
            <a:r>
              <a:rPr lang="en-US" dirty="0" smtClean="0"/>
              <a:t>.</a:t>
            </a:r>
          </a:p>
          <a:p>
            <a:r>
              <a:rPr lang="tr-TR" dirty="0" smtClean="0"/>
              <a:t>2.Axtardığınız elementi mid1 </a:t>
            </a:r>
            <a:r>
              <a:rPr lang="tr-TR" dirty="0" err="1" smtClean="0"/>
              <a:t>və</a:t>
            </a:r>
            <a:r>
              <a:rPr lang="tr-TR" dirty="0" smtClean="0"/>
              <a:t> mid2 </a:t>
            </a:r>
            <a:r>
              <a:rPr lang="tr-TR" dirty="0" err="1" smtClean="0"/>
              <a:t>qiymətləri</a:t>
            </a:r>
            <a:r>
              <a:rPr lang="tr-TR" dirty="0" smtClean="0"/>
              <a:t> </a:t>
            </a:r>
            <a:r>
              <a:rPr lang="tr-TR" dirty="0" err="1" smtClean="0"/>
              <a:t>ilə</a:t>
            </a:r>
            <a:r>
              <a:rPr lang="tr-TR" dirty="0" smtClean="0"/>
              <a:t> </a:t>
            </a:r>
            <a:r>
              <a:rPr lang="tr-TR" dirty="0" err="1" smtClean="0"/>
              <a:t>müqayisə</a:t>
            </a:r>
            <a:r>
              <a:rPr lang="tr-TR" dirty="0" smtClean="0"/>
              <a:t> </a:t>
            </a:r>
            <a:r>
              <a:rPr lang="tr-TR" dirty="0" err="1" smtClean="0"/>
              <a:t>edir</a:t>
            </a:r>
            <a:endParaRPr lang="tr-TR" dirty="0" smtClean="0"/>
          </a:p>
          <a:p>
            <a:r>
              <a:rPr lang="tr-TR" dirty="0" smtClean="0"/>
              <a:t>a. </a:t>
            </a:r>
            <a:r>
              <a:rPr lang="tr-TR" dirty="0" err="1" smtClean="0"/>
              <a:t>Əgər</a:t>
            </a:r>
            <a:r>
              <a:rPr lang="tr-TR" dirty="0" smtClean="0"/>
              <a:t> element mid1 </a:t>
            </a:r>
            <a:r>
              <a:rPr lang="tr-TR" dirty="0" err="1" smtClean="0"/>
              <a:t>dəyərinə</a:t>
            </a:r>
            <a:r>
              <a:rPr lang="tr-TR" dirty="0" smtClean="0"/>
              <a:t> </a:t>
            </a:r>
            <a:r>
              <a:rPr lang="tr-TR" dirty="0" err="1" smtClean="0"/>
              <a:t>bərabərdirsə</a:t>
            </a:r>
            <a:r>
              <a:rPr lang="tr-TR" dirty="0" smtClean="0"/>
              <a:t> mid1, siz elementi </a:t>
            </a:r>
            <a:r>
              <a:rPr lang="tr-TR" dirty="0" err="1" smtClean="0"/>
              <a:t>tapmısınız</a:t>
            </a:r>
            <a:r>
              <a:rPr lang="tr-TR" dirty="0" smtClean="0"/>
              <a:t> </a:t>
            </a:r>
            <a:r>
              <a:rPr lang="tr-TR" dirty="0" err="1" smtClean="0"/>
              <a:t>və</a:t>
            </a:r>
            <a:r>
              <a:rPr lang="tr-TR" dirty="0" smtClean="0"/>
              <a:t> onun indeksini (</a:t>
            </a:r>
            <a:r>
              <a:rPr lang="tr-TR" dirty="0" err="1" smtClean="0"/>
              <a:t>və</a:t>
            </a:r>
            <a:r>
              <a:rPr lang="tr-TR" dirty="0" smtClean="0"/>
              <a:t> ya </a:t>
            </a:r>
            <a:r>
              <a:rPr lang="tr-TR" dirty="0" err="1" smtClean="0"/>
              <a:t>dəyərin</a:t>
            </a:r>
            <a:r>
              <a:rPr lang="tr-TR" dirty="0" smtClean="0"/>
              <a:t> özünü) </a:t>
            </a:r>
            <a:r>
              <a:rPr lang="tr-TR" dirty="0" err="1" smtClean="0"/>
              <a:t>qaytara</a:t>
            </a:r>
            <a:r>
              <a:rPr lang="tr-TR" dirty="0" smtClean="0"/>
              <a:t> </a:t>
            </a:r>
            <a:r>
              <a:rPr lang="tr-TR" dirty="0" err="1" smtClean="0"/>
              <a:t>bilərsiniz</a:t>
            </a:r>
            <a:r>
              <a:rPr lang="tr-TR" dirty="0" smtClean="0"/>
              <a:t>.</a:t>
            </a:r>
          </a:p>
          <a:p>
            <a:r>
              <a:rPr lang="tr-TR" dirty="0" smtClean="0"/>
              <a:t>b. </a:t>
            </a:r>
            <a:r>
              <a:rPr lang="tr-TR" dirty="0" err="1" smtClean="0"/>
              <a:t>Əgər</a:t>
            </a:r>
            <a:r>
              <a:rPr lang="tr-TR" dirty="0" smtClean="0"/>
              <a:t> element mid2  </a:t>
            </a:r>
            <a:r>
              <a:rPr lang="tr-TR" dirty="0" err="1" smtClean="0"/>
              <a:t>dəyərinə</a:t>
            </a:r>
            <a:r>
              <a:rPr lang="tr-TR" dirty="0" smtClean="0"/>
              <a:t> </a:t>
            </a:r>
            <a:r>
              <a:rPr lang="tr-TR" dirty="0" err="1" smtClean="0"/>
              <a:t>bərabərdirsə</a:t>
            </a:r>
            <a:r>
              <a:rPr lang="tr-TR" dirty="0" smtClean="0"/>
              <a:t> mid2, siz elementi </a:t>
            </a:r>
            <a:r>
              <a:rPr lang="tr-TR" dirty="0" err="1" smtClean="0"/>
              <a:t>tapmısınız</a:t>
            </a:r>
            <a:r>
              <a:rPr lang="tr-TR" dirty="0" smtClean="0"/>
              <a:t> </a:t>
            </a:r>
            <a:r>
              <a:rPr lang="tr-TR" dirty="0" err="1" smtClean="0"/>
              <a:t>və</a:t>
            </a:r>
            <a:r>
              <a:rPr lang="tr-TR" dirty="0" smtClean="0"/>
              <a:t> onun indeksini (</a:t>
            </a:r>
            <a:r>
              <a:rPr lang="tr-TR" dirty="0" err="1" smtClean="0"/>
              <a:t>və</a:t>
            </a:r>
            <a:r>
              <a:rPr lang="tr-TR" dirty="0" smtClean="0"/>
              <a:t> ya </a:t>
            </a:r>
            <a:r>
              <a:rPr lang="tr-TR" dirty="0" err="1" smtClean="0"/>
              <a:t>dəyərin</a:t>
            </a:r>
            <a:r>
              <a:rPr lang="tr-TR" dirty="0" smtClean="0"/>
              <a:t> özünü) </a:t>
            </a:r>
            <a:r>
              <a:rPr lang="tr-TR" dirty="0" err="1" smtClean="0"/>
              <a:t>qaytara</a:t>
            </a:r>
            <a:r>
              <a:rPr lang="tr-TR" dirty="0" smtClean="0"/>
              <a:t> </a:t>
            </a:r>
            <a:r>
              <a:rPr lang="tr-TR" dirty="0" err="1" smtClean="0"/>
              <a:t>bilərsiniz</a:t>
            </a:r>
            <a:r>
              <a:rPr lang="tr-TR" dirty="0" smtClean="0"/>
              <a:t>.</a:t>
            </a:r>
          </a:p>
          <a:p>
            <a:r>
              <a:rPr lang="tr-TR" dirty="0" smtClean="0"/>
              <a:t>c. Element mid1 </a:t>
            </a:r>
            <a:r>
              <a:rPr lang="tr-TR" dirty="0" err="1" smtClean="0"/>
              <a:t>dəyərindən</a:t>
            </a:r>
            <a:r>
              <a:rPr lang="tr-TR" dirty="0" smtClean="0"/>
              <a:t> azdırsa mid1, siz bilirsiniz ki, o, </a:t>
            </a:r>
            <a:r>
              <a:rPr lang="tr-TR" dirty="0" err="1" smtClean="0"/>
              <a:t>diapazonun</a:t>
            </a:r>
            <a:r>
              <a:rPr lang="tr-TR" dirty="0" smtClean="0"/>
              <a:t> ilk </a:t>
            </a:r>
            <a:r>
              <a:rPr lang="tr-TR" dirty="0" err="1" smtClean="0"/>
              <a:t>üçdə</a:t>
            </a:r>
            <a:r>
              <a:rPr lang="tr-TR" dirty="0" smtClean="0"/>
              <a:t> </a:t>
            </a:r>
            <a:r>
              <a:rPr lang="tr-TR" dirty="0" err="1" smtClean="0"/>
              <a:t>birində</a:t>
            </a:r>
            <a:r>
              <a:rPr lang="tr-TR" dirty="0" smtClean="0"/>
              <a:t> olmalıdır, ona </a:t>
            </a:r>
            <a:r>
              <a:rPr lang="tr-TR" dirty="0" err="1" smtClean="0"/>
              <a:t>görə</a:t>
            </a:r>
            <a:r>
              <a:rPr lang="tr-TR" dirty="0" smtClean="0"/>
              <a:t> </a:t>
            </a:r>
            <a:r>
              <a:rPr lang="tr-TR" dirty="0" err="1" smtClean="0"/>
              <a:t>də</a:t>
            </a:r>
            <a:r>
              <a:rPr lang="tr-TR" dirty="0" smtClean="0"/>
              <a:t> </a:t>
            </a:r>
            <a:r>
              <a:rPr lang="tr-TR" dirty="0" err="1" smtClean="0"/>
              <a:t>həmin</a:t>
            </a:r>
            <a:r>
              <a:rPr lang="tr-TR" dirty="0" smtClean="0"/>
              <a:t> alt </a:t>
            </a:r>
            <a:r>
              <a:rPr lang="tr-TR" dirty="0" err="1" smtClean="0"/>
              <a:t>diapazonda</a:t>
            </a:r>
            <a:r>
              <a:rPr lang="tr-TR" dirty="0" smtClean="0"/>
              <a:t> </a:t>
            </a:r>
            <a:r>
              <a:rPr lang="tr-TR" dirty="0" err="1" smtClean="0"/>
              <a:t>rekursiv</a:t>
            </a:r>
            <a:r>
              <a:rPr lang="tr-TR" dirty="0" smtClean="0"/>
              <a:t> </a:t>
            </a:r>
            <a:r>
              <a:rPr lang="tr-TR" dirty="0" err="1" smtClean="0"/>
              <a:t>axtarış</a:t>
            </a:r>
            <a:r>
              <a:rPr lang="tr-TR" dirty="0" smtClean="0"/>
              <a:t> aparırsınız.</a:t>
            </a:r>
            <a:endParaRPr lang="en-US" dirty="0" smtClean="0"/>
          </a:p>
          <a:p>
            <a:r>
              <a:rPr lang="tr-TR" dirty="0" smtClean="0"/>
              <a:t>d. Element mid2 </a:t>
            </a:r>
            <a:r>
              <a:rPr lang="tr-TR" dirty="0" err="1" smtClean="0"/>
              <a:t>dəyərindən</a:t>
            </a:r>
            <a:r>
              <a:rPr lang="tr-TR" dirty="0" smtClean="0"/>
              <a:t> </a:t>
            </a:r>
            <a:r>
              <a:rPr lang="tr-TR" dirty="0" err="1" smtClean="0"/>
              <a:t>böyükdürsə</a:t>
            </a:r>
            <a:r>
              <a:rPr lang="tr-TR" dirty="0" smtClean="0"/>
              <a:t> mid2, siz bilirsiniz ki, o, </a:t>
            </a:r>
            <a:r>
              <a:rPr lang="tr-TR" dirty="0" err="1" smtClean="0"/>
              <a:t>diapazonun</a:t>
            </a:r>
            <a:r>
              <a:rPr lang="tr-TR" dirty="0" smtClean="0"/>
              <a:t> son </a:t>
            </a:r>
            <a:r>
              <a:rPr lang="tr-TR" dirty="0" err="1" smtClean="0"/>
              <a:t>üçdə</a:t>
            </a:r>
            <a:r>
              <a:rPr lang="tr-TR" dirty="0" smtClean="0"/>
              <a:t> </a:t>
            </a:r>
            <a:r>
              <a:rPr lang="tr-TR" dirty="0" err="1" smtClean="0"/>
              <a:t>birində</a:t>
            </a:r>
            <a:r>
              <a:rPr lang="tr-TR" dirty="0" smtClean="0"/>
              <a:t> olmalıdır, ona </a:t>
            </a:r>
            <a:r>
              <a:rPr lang="tr-TR" dirty="0" err="1" smtClean="0"/>
              <a:t>görə</a:t>
            </a:r>
            <a:r>
              <a:rPr lang="tr-TR" dirty="0" smtClean="0"/>
              <a:t> </a:t>
            </a:r>
            <a:r>
              <a:rPr lang="tr-TR" dirty="0" err="1" smtClean="0"/>
              <a:t>də</a:t>
            </a:r>
            <a:r>
              <a:rPr lang="tr-TR" dirty="0" smtClean="0"/>
              <a:t> </a:t>
            </a:r>
            <a:r>
              <a:rPr lang="tr-TR" dirty="0" err="1" smtClean="0"/>
              <a:t>həmin</a:t>
            </a:r>
            <a:r>
              <a:rPr lang="tr-TR" dirty="0" smtClean="0"/>
              <a:t> alt </a:t>
            </a:r>
            <a:r>
              <a:rPr lang="tr-TR" dirty="0" err="1" smtClean="0"/>
              <a:t>diapazonda</a:t>
            </a:r>
            <a:r>
              <a:rPr lang="tr-TR" dirty="0" smtClean="0"/>
              <a:t> </a:t>
            </a:r>
            <a:r>
              <a:rPr lang="tr-TR" dirty="0" err="1" smtClean="0"/>
              <a:t>rekursiv</a:t>
            </a:r>
            <a:r>
              <a:rPr lang="tr-TR" dirty="0" smtClean="0"/>
              <a:t> </a:t>
            </a:r>
            <a:r>
              <a:rPr lang="tr-TR" dirty="0" err="1" smtClean="0"/>
              <a:t>axtarış</a:t>
            </a:r>
            <a:r>
              <a:rPr lang="tr-TR" dirty="0" smtClean="0"/>
              <a:t> aparırsınız.</a:t>
            </a:r>
          </a:p>
          <a:p>
            <a:r>
              <a:rPr lang="tr-TR" dirty="0" smtClean="0"/>
              <a:t>e. Element mid1 </a:t>
            </a:r>
            <a:r>
              <a:rPr lang="tr-TR" dirty="0" err="1" smtClean="0"/>
              <a:t>dəyərindən</a:t>
            </a:r>
            <a:r>
              <a:rPr lang="tr-TR" dirty="0" smtClean="0"/>
              <a:t> </a:t>
            </a:r>
            <a:r>
              <a:rPr lang="tr-TR" dirty="0" err="1" smtClean="0"/>
              <a:t>böyükdürsə</a:t>
            </a:r>
            <a:r>
              <a:rPr lang="tr-TR" dirty="0" smtClean="0"/>
              <a:t>, mid1lakin </a:t>
            </a:r>
            <a:r>
              <a:rPr lang="tr-TR" dirty="0" err="1" smtClean="0"/>
              <a:t>dəyərindən</a:t>
            </a:r>
            <a:r>
              <a:rPr lang="tr-TR" dirty="0" smtClean="0"/>
              <a:t> </a:t>
            </a:r>
            <a:r>
              <a:rPr lang="tr-TR" dirty="0" err="1" smtClean="0"/>
              <a:t>kiçikdirsə</a:t>
            </a:r>
            <a:r>
              <a:rPr lang="tr-TR" dirty="0" smtClean="0"/>
              <a:t> mid2, siz bilirsiniz ki, o, </a:t>
            </a:r>
            <a:r>
              <a:rPr lang="tr-TR" dirty="0" err="1" smtClean="0"/>
              <a:t>diapazonun</a:t>
            </a:r>
            <a:r>
              <a:rPr lang="tr-TR" dirty="0" smtClean="0"/>
              <a:t> orta </a:t>
            </a:r>
            <a:r>
              <a:rPr lang="tr-TR" dirty="0" err="1" smtClean="0"/>
              <a:t>üçdə</a:t>
            </a:r>
            <a:r>
              <a:rPr lang="tr-TR" dirty="0" smtClean="0"/>
              <a:t> </a:t>
            </a:r>
            <a:r>
              <a:rPr lang="tr-TR" dirty="0" err="1" smtClean="0"/>
              <a:t>birində</a:t>
            </a:r>
            <a:r>
              <a:rPr lang="tr-TR" dirty="0" smtClean="0"/>
              <a:t> olmalıdır, ona </a:t>
            </a:r>
            <a:r>
              <a:rPr lang="tr-TR" dirty="0" err="1" smtClean="0"/>
              <a:t>görə</a:t>
            </a:r>
            <a:r>
              <a:rPr lang="tr-TR" dirty="0" smtClean="0"/>
              <a:t> </a:t>
            </a:r>
            <a:r>
              <a:rPr lang="tr-TR" dirty="0" err="1" smtClean="0"/>
              <a:t>də</a:t>
            </a:r>
            <a:r>
              <a:rPr lang="tr-TR" dirty="0" smtClean="0"/>
              <a:t> </a:t>
            </a:r>
            <a:r>
              <a:rPr lang="tr-TR" dirty="0" err="1" smtClean="0"/>
              <a:t>həmin</a:t>
            </a:r>
            <a:r>
              <a:rPr lang="tr-TR" dirty="0" smtClean="0"/>
              <a:t> alt </a:t>
            </a:r>
            <a:r>
              <a:rPr lang="tr-TR" dirty="0" err="1" smtClean="0"/>
              <a:t>diapazonda</a:t>
            </a:r>
            <a:r>
              <a:rPr lang="tr-TR" dirty="0" smtClean="0"/>
              <a:t> </a:t>
            </a:r>
            <a:r>
              <a:rPr lang="tr-TR" dirty="0" err="1" smtClean="0"/>
              <a:t>rekursiv</a:t>
            </a:r>
            <a:r>
              <a:rPr lang="tr-TR" dirty="0" smtClean="0"/>
              <a:t> </a:t>
            </a:r>
            <a:r>
              <a:rPr lang="tr-TR" dirty="0" err="1" smtClean="0"/>
              <a:t>axtarış</a:t>
            </a:r>
            <a:r>
              <a:rPr lang="tr-TR" dirty="0" smtClean="0"/>
              <a:t> aparırsınız.</a:t>
            </a:r>
          </a:p>
          <a:p>
            <a:r>
              <a:rPr lang="tr-TR" dirty="0" smtClean="0"/>
              <a:t>3.Elementi tapana </a:t>
            </a:r>
            <a:r>
              <a:rPr lang="tr-TR" dirty="0" err="1" smtClean="0"/>
              <a:t>və</a:t>
            </a:r>
            <a:r>
              <a:rPr lang="tr-TR" dirty="0" smtClean="0"/>
              <a:t> ya onun </a:t>
            </a:r>
            <a:r>
              <a:rPr lang="tr-TR" dirty="0" err="1" smtClean="0"/>
              <a:t>siyahıda</a:t>
            </a:r>
            <a:r>
              <a:rPr lang="tr-TR" dirty="0" smtClean="0"/>
              <a:t> </a:t>
            </a:r>
            <a:r>
              <a:rPr lang="tr-TR" dirty="0" err="1" smtClean="0"/>
              <a:t>və</a:t>
            </a:r>
            <a:r>
              <a:rPr lang="tr-TR" dirty="0" smtClean="0"/>
              <a:t> ya </a:t>
            </a:r>
            <a:r>
              <a:rPr lang="tr-TR" dirty="0" err="1" smtClean="0"/>
              <a:t>funksiyada</a:t>
            </a:r>
            <a:r>
              <a:rPr lang="tr-TR" dirty="0" smtClean="0"/>
              <a:t> olmadığını </a:t>
            </a:r>
            <a:r>
              <a:rPr lang="tr-TR" dirty="0" err="1" smtClean="0"/>
              <a:t>müəyyən</a:t>
            </a:r>
            <a:r>
              <a:rPr lang="tr-TR" dirty="0" smtClean="0"/>
              <a:t> </a:t>
            </a:r>
            <a:r>
              <a:rPr lang="tr-TR" dirty="0" err="1" smtClean="0"/>
              <a:t>edənə</a:t>
            </a:r>
            <a:r>
              <a:rPr lang="tr-TR" dirty="0" smtClean="0"/>
              <a:t> </a:t>
            </a:r>
            <a:r>
              <a:rPr lang="tr-TR" dirty="0" err="1" smtClean="0"/>
              <a:t>qədər</a:t>
            </a:r>
            <a:r>
              <a:rPr lang="tr-TR" dirty="0" smtClean="0"/>
              <a:t> prosesi </a:t>
            </a:r>
            <a:r>
              <a:rPr lang="tr-TR" dirty="0" err="1" smtClean="0"/>
              <a:t>təkrarlayın</a:t>
            </a:r>
            <a:r>
              <a:rPr lang="tr-TR" dirty="0" smtClean="0"/>
              <a:t>.</a:t>
            </a:r>
          </a:p>
          <a:p>
            <a:endParaRPr lang="tr-TR" dirty="0"/>
          </a:p>
          <a:p>
            <a:r>
              <a:rPr lang="az-Latn-AZ" dirty="0" smtClean="0"/>
              <a:t>Binary search daha sürətlidir yoxsa Ternary search?</a:t>
            </a:r>
          </a:p>
          <a:p>
            <a:r>
              <a:rPr lang="az-Latn-AZ" dirty="0" smtClean="0"/>
              <a:t>Üçlü axtarışın vaxt mürəkkəbliyi ikili axtarışdan daha yaxşıdır, lakin üçlü axtarışda müqayisələrin sayı onu ikili axtarışdan daha yavaş edir.</a:t>
            </a:r>
          </a:p>
          <a:p>
            <a:endParaRPr lang="az-Latn-AZ" dirty="0" smtClean="0"/>
          </a:p>
          <a:p>
            <a:endParaRPr lang="tr-TR" dirty="0"/>
          </a:p>
          <a:p>
            <a:endParaRPr lang="tr-TR" dirty="0"/>
          </a:p>
        </p:txBody>
      </p:sp>
    </p:spTree>
    <p:extLst>
      <p:ext uri="{BB962C8B-B14F-4D97-AF65-F5344CB8AC3E}">
        <p14:creationId xmlns:p14="http://schemas.microsoft.com/office/powerpoint/2010/main" val="1840578268"/>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E75B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6849652"/>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0841389"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pic>
        <p:nvPicPr>
          <p:cNvPr id="32" name="Picture 1" descr="Ternary search"/>
          <p:cNvPicPr/>
          <p:nvPr/>
        </p:nvPicPr>
        <p:blipFill>
          <a:blip r:embed="rId2"/>
          <a:stretch>
            <a:fillRect/>
          </a:stretch>
        </p:blipFill>
        <p:spPr>
          <a:xfrm>
            <a:off x="3452954" y="1760583"/>
            <a:ext cx="5758815" cy="3332480"/>
          </a:xfrm>
          <a:prstGeom prst="rect">
            <a:avLst/>
          </a:prstGeom>
          <a:ln w="38100">
            <a:solidFill>
              <a:schemeClr val="tx1"/>
            </a:solidFill>
          </a:ln>
        </p:spPr>
      </p:pic>
    </p:spTree>
    <p:extLst>
      <p:ext uri="{BB962C8B-B14F-4D97-AF65-F5344CB8AC3E}">
        <p14:creationId xmlns:p14="http://schemas.microsoft.com/office/powerpoint/2010/main" val="1078200747"/>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E75B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154613"/>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0841389"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pic>
        <p:nvPicPr>
          <p:cNvPr id="3074" name="Picture 2" descr="ternaryS-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7836" y="1529078"/>
            <a:ext cx="6905444" cy="363946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090360"/>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11"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2" name="Metin kutusu 1"/>
          <p:cNvSpPr txBox="1"/>
          <p:nvPr/>
        </p:nvSpPr>
        <p:spPr>
          <a:xfrm>
            <a:off x="1432560" y="538480"/>
            <a:ext cx="9489440" cy="2031325"/>
          </a:xfrm>
          <a:prstGeom prst="rect">
            <a:avLst/>
          </a:prstGeom>
          <a:noFill/>
        </p:spPr>
        <p:txBody>
          <a:bodyPr wrap="square" rtlCol="0">
            <a:spAutoFit/>
          </a:bodyPr>
          <a:lstStyle/>
          <a:p>
            <a:r>
              <a:rPr lang="tr-TR" dirty="0" smtClean="0"/>
              <a:t>İkili </a:t>
            </a:r>
            <a:r>
              <a:rPr lang="tr-TR" dirty="0" err="1" smtClean="0"/>
              <a:t>axtarış</a:t>
            </a:r>
            <a:r>
              <a:rPr lang="tr-TR" dirty="0" smtClean="0"/>
              <a:t> </a:t>
            </a:r>
            <a:r>
              <a:rPr lang="tr-TR" dirty="0" err="1" smtClean="0"/>
              <a:t>nədir</a:t>
            </a:r>
            <a:r>
              <a:rPr lang="tr-TR" dirty="0" smtClean="0"/>
              <a:t>? </a:t>
            </a:r>
            <a:r>
              <a:rPr lang="tr-TR" dirty="0" err="1" smtClean="0"/>
              <a:t>Binary</a:t>
            </a:r>
            <a:r>
              <a:rPr lang="tr-TR" dirty="0" smtClean="0"/>
              <a:t> </a:t>
            </a:r>
            <a:r>
              <a:rPr lang="tr-TR" dirty="0" err="1" smtClean="0"/>
              <a:t>Search</a:t>
            </a:r>
            <a:r>
              <a:rPr lang="tr-TR" dirty="0" smtClean="0"/>
              <a:t> adından da </a:t>
            </a:r>
            <a:r>
              <a:rPr lang="tr-TR" dirty="0" err="1" smtClean="0"/>
              <a:t>bəlli</a:t>
            </a:r>
            <a:r>
              <a:rPr lang="tr-TR" dirty="0" smtClean="0"/>
              <a:t> olduğu kimi bir </a:t>
            </a:r>
            <a:r>
              <a:rPr lang="tr-TR" dirty="0" err="1" smtClean="0"/>
              <a:t>axtarış</a:t>
            </a:r>
            <a:r>
              <a:rPr lang="tr-TR" dirty="0" smtClean="0"/>
              <a:t> </a:t>
            </a:r>
            <a:r>
              <a:rPr lang="tr-TR" dirty="0" err="1" smtClean="0"/>
              <a:t>alqoritmidir</a:t>
            </a:r>
            <a:r>
              <a:rPr lang="tr-TR" dirty="0" smtClean="0"/>
              <a:t>. Bu </a:t>
            </a:r>
            <a:r>
              <a:rPr lang="tr-TR" dirty="0" err="1" smtClean="0"/>
              <a:t>alqoritmdə</a:t>
            </a:r>
            <a:r>
              <a:rPr lang="tr-TR" dirty="0" smtClean="0"/>
              <a:t> </a:t>
            </a:r>
            <a:r>
              <a:rPr lang="tr-TR" dirty="0" err="1" smtClean="0"/>
              <a:t>massivdən</a:t>
            </a:r>
            <a:r>
              <a:rPr lang="tr-TR" dirty="0" smtClean="0"/>
              <a:t> bir </a:t>
            </a:r>
            <a:r>
              <a:rPr lang="tr-TR" dirty="0" err="1" smtClean="0"/>
              <a:t>ədəd</a:t>
            </a:r>
            <a:r>
              <a:rPr lang="tr-TR" dirty="0" smtClean="0"/>
              <a:t> seçilir </a:t>
            </a:r>
            <a:r>
              <a:rPr lang="tr-TR" dirty="0" err="1" smtClean="0"/>
              <a:t>və</a:t>
            </a:r>
            <a:r>
              <a:rPr lang="tr-TR" dirty="0" smtClean="0"/>
              <a:t> o </a:t>
            </a:r>
            <a:r>
              <a:rPr lang="tr-TR" dirty="0" err="1" smtClean="0"/>
              <a:t>axtarılır</a:t>
            </a:r>
            <a:r>
              <a:rPr lang="tr-TR" dirty="0" smtClean="0"/>
              <a:t>. </a:t>
            </a:r>
            <a:r>
              <a:rPr lang="tr-TR" dirty="0" err="1" smtClean="0"/>
              <a:t>Və</a:t>
            </a:r>
            <a:r>
              <a:rPr lang="tr-TR" dirty="0" smtClean="0"/>
              <a:t> </a:t>
            </a:r>
            <a:r>
              <a:rPr lang="tr-TR" dirty="0" err="1" smtClean="0"/>
              <a:t>qeyd</a:t>
            </a:r>
            <a:r>
              <a:rPr lang="tr-TR" dirty="0" smtClean="0"/>
              <a:t> edim ki </a:t>
            </a:r>
            <a:r>
              <a:rPr lang="tr-TR" dirty="0" err="1" smtClean="0"/>
              <a:t>Binary</a:t>
            </a:r>
            <a:r>
              <a:rPr lang="tr-TR" dirty="0" smtClean="0"/>
              <a:t> </a:t>
            </a:r>
            <a:r>
              <a:rPr lang="tr-TR" dirty="0" err="1" smtClean="0"/>
              <a:t>Search</a:t>
            </a:r>
            <a:r>
              <a:rPr lang="tr-TR" dirty="0" smtClean="0"/>
              <a:t> </a:t>
            </a:r>
            <a:r>
              <a:rPr lang="tr-TR" dirty="0" err="1" smtClean="0"/>
              <a:t>sadəcə</a:t>
            </a:r>
            <a:r>
              <a:rPr lang="tr-TR" dirty="0" smtClean="0"/>
              <a:t> </a:t>
            </a:r>
            <a:r>
              <a:rPr lang="tr-TR" dirty="0" err="1" smtClean="0"/>
              <a:t>çeşidlənmiş</a:t>
            </a:r>
            <a:r>
              <a:rPr lang="tr-TR" dirty="0" smtClean="0"/>
              <a:t> </a:t>
            </a:r>
            <a:r>
              <a:rPr lang="tr-TR" dirty="0" err="1" smtClean="0"/>
              <a:t>massivlərdə</a:t>
            </a:r>
            <a:r>
              <a:rPr lang="tr-TR" dirty="0" smtClean="0"/>
              <a:t> </a:t>
            </a:r>
            <a:r>
              <a:rPr lang="tr-TR" dirty="0" err="1" smtClean="0"/>
              <a:t>işləyir</a:t>
            </a:r>
            <a:r>
              <a:rPr lang="tr-TR" dirty="0" smtClean="0"/>
              <a:t>. Bu </a:t>
            </a:r>
            <a:r>
              <a:rPr lang="tr-TR" dirty="0" err="1" smtClean="0"/>
              <a:t>axtarış</a:t>
            </a:r>
            <a:r>
              <a:rPr lang="tr-TR" dirty="0" smtClean="0"/>
              <a:t> </a:t>
            </a:r>
            <a:r>
              <a:rPr lang="tr-TR" dirty="0" err="1" smtClean="0"/>
              <a:t>alqoritminin</a:t>
            </a:r>
            <a:r>
              <a:rPr lang="tr-TR" dirty="0" smtClean="0"/>
              <a:t> </a:t>
            </a:r>
            <a:r>
              <a:rPr lang="tr-TR" dirty="0" err="1" smtClean="0"/>
              <a:t>əsas</a:t>
            </a:r>
            <a:r>
              <a:rPr lang="tr-TR" dirty="0" smtClean="0"/>
              <a:t> </a:t>
            </a:r>
            <a:r>
              <a:rPr lang="tr-TR" dirty="0" err="1" smtClean="0"/>
              <a:t>məntiqi</a:t>
            </a:r>
            <a:r>
              <a:rPr lang="tr-TR" dirty="0" smtClean="0"/>
              <a:t> </a:t>
            </a:r>
            <a:r>
              <a:rPr lang="tr-TR" dirty="0" err="1" smtClean="0"/>
              <a:t>verilən</a:t>
            </a:r>
            <a:r>
              <a:rPr lang="tr-TR" dirty="0" smtClean="0"/>
              <a:t> </a:t>
            </a:r>
            <a:r>
              <a:rPr lang="tr-TR" dirty="0" err="1" smtClean="0"/>
              <a:t>massivin</a:t>
            </a:r>
            <a:r>
              <a:rPr lang="tr-TR" dirty="0" smtClean="0"/>
              <a:t> </a:t>
            </a:r>
            <a:r>
              <a:rPr lang="tr-TR" dirty="0" err="1" smtClean="0"/>
              <a:t>Baş,Son,Orta</a:t>
            </a:r>
            <a:r>
              <a:rPr lang="tr-TR" dirty="0" smtClean="0"/>
              <a:t> </a:t>
            </a:r>
            <a:r>
              <a:rPr lang="tr-TR" dirty="0" err="1" smtClean="0"/>
              <a:t>ədədlərini</a:t>
            </a:r>
            <a:r>
              <a:rPr lang="tr-TR" dirty="0" smtClean="0"/>
              <a:t> </a:t>
            </a:r>
            <a:r>
              <a:rPr lang="tr-TR" dirty="0" err="1" smtClean="0"/>
              <a:t>tapmaq</a:t>
            </a:r>
            <a:r>
              <a:rPr lang="tr-TR" dirty="0" smtClean="0"/>
              <a:t>, daha sonra </a:t>
            </a:r>
            <a:r>
              <a:rPr lang="tr-TR" dirty="0" err="1" smtClean="0"/>
              <a:t>ədədi</a:t>
            </a:r>
            <a:r>
              <a:rPr lang="tr-TR" dirty="0" smtClean="0"/>
              <a:t> orta </a:t>
            </a:r>
            <a:r>
              <a:rPr lang="tr-TR" dirty="0" err="1" smtClean="0"/>
              <a:t>ilə</a:t>
            </a:r>
            <a:r>
              <a:rPr lang="tr-TR" dirty="0" smtClean="0"/>
              <a:t> </a:t>
            </a:r>
            <a:r>
              <a:rPr lang="tr-TR" dirty="0" err="1" smtClean="0"/>
              <a:t>müqayisə</a:t>
            </a:r>
            <a:r>
              <a:rPr lang="tr-TR" dirty="0" smtClean="0"/>
              <a:t> </a:t>
            </a:r>
            <a:r>
              <a:rPr lang="tr-TR" dirty="0" err="1" smtClean="0"/>
              <a:t>edib</a:t>
            </a:r>
            <a:r>
              <a:rPr lang="tr-TR" dirty="0" smtClean="0"/>
              <a:t> ona </a:t>
            </a:r>
            <a:r>
              <a:rPr lang="tr-TR" dirty="0" err="1" smtClean="0"/>
              <a:t>görə</a:t>
            </a:r>
            <a:r>
              <a:rPr lang="tr-TR" dirty="0" smtClean="0"/>
              <a:t> bir </a:t>
            </a:r>
            <a:r>
              <a:rPr lang="tr-TR" dirty="0" err="1" smtClean="0"/>
              <a:t>alqoritm</a:t>
            </a:r>
            <a:r>
              <a:rPr lang="tr-TR" dirty="0" smtClean="0"/>
              <a:t> </a:t>
            </a:r>
            <a:r>
              <a:rPr lang="tr-TR" dirty="0" err="1" smtClean="0"/>
              <a:t>çizməkdir</a:t>
            </a:r>
            <a:r>
              <a:rPr lang="tr-TR" dirty="0" smtClean="0"/>
              <a:t>. Daha </a:t>
            </a:r>
            <a:r>
              <a:rPr lang="tr-TR" dirty="0" err="1" smtClean="0"/>
              <a:t>yaxşı</a:t>
            </a:r>
            <a:r>
              <a:rPr lang="tr-TR" dirty="0" smtClean="0"/>
              <a:t> </a:t>
            </a:r>
            <a:r>
              <a:rPr lang="tr-TR" dirty="0" err="1" smtClean="0"/>
              <a:t>anlamaq</a:t>
            </a:r>
            <a:r>
              <a:rPr lang="tr-TR" dirty="0" smtClean="0"/>
              <a:t> üçün bir </a:t>
            </a:r>
            <a:r>
              <a:rPr lang="tr-TR" dirty="0" err="1" smtClean="0"/>
              <a:t>məsələ</a:t>
            </a:r>
            <a:r>
              <a:rPr lang="tr-TR" dirty="0" smtClean="0"/>
              <a:t> </a:t>
            </a:r>
            <a:r>
              <a:rPr lang="tr-TR" dirty="0" err="1" smtClean="0"/>
              <a:t>edək</a:t>
            </a:r>
            <a:r>
              <a:rPr lang="tr-TR" dirty="0" smtClean="0"/>
              <a:t>. 2, 5, 8, 12, 16, 23, 38, 56, 72, 91 </a:t>
            </a:r>
            <a:r>
              <a:rPr lang="tr-TR" dirty="0" err="1" smtClean="0"/>
              <a:t>ədədlərini</a:t>
            </a:r>
            <a:r>
              <a:rPr lang="tr-TR" dirty="0" smtClean="0"/>
              <a:t> </a:t>
            </a:r>
            <a:r>
              <a:rPr lang="tr-TR" dirty="0" err="1" smtClean="0"/>
              <a:t>verək</a:t>
            </a:r>
            <a:r>
              <a:rPr lang="tr-TR" dirty="0" smtClean="0"/>
              <a:t> </a:t>
            </a:r>
            <a:r>
              <a:rPr lang="tr-TR" dirty="0" err="1" smtClean="0"/>
              <a:t>və</a:t>
            </a:r>
            <a:r>
              <a:rPr lang="tr-TR" dirty="0" smtClean="0"/>
              <a:t> </a:t>
            </a:r>
            <a:r>
              <a:rPr lang="tr-TR" dirty="0" err="1" smtClean="0"/>
              <a:t>burdan</a:t>
            </a:r>
            <a:r>
              <a:rPr lang="tr-TR" dirty="0" smtClean="0"/>
              <a:t> 23 </a:t>
            </a:r>
            <a:r>
              <a:rPr lang="tr-TR" dirty="0" err="1" smtClean="0"/>
              <a:t>ədədini</a:t>
            </a:r>
            <a:r>
              <a:rPr lang="tr-TR" dirty="0" smtClean="0"/>
              <a:t> tapmağa </a:t>
            </a:r>
            <a:r>
              <a:rPr lang="tr-TR" dirty="0" err="1" smtClean="0"/>
              <a:t>çalışaq</a:t>
            </a:r>
            <a:r>
              <a:rPr lang="tr-TR" dirty="0" smtClean="0"/>
              <a:t>. Ortanı </a:t>
            </a:r>
            <a:r>
              <a:rPr lang="tr-TR" dirty="0" err="1" smtClean="0"/>
              <a:t>hesablayaq</a:t>
            </a:r>
            <a:r>
              <a:rPr lang="tr-TR" dirty="0" smtClean="0"/>
              <a:t> </a:t>
            </a:r>
            <a:r>
              <a:rPr lang="tr-TR" dirty="0" err="1" smtClean="0"/>
              <a:t>və</a:t>
            </a:r>
            <a:r>
              <a:rPr lang="tr-TR" dirty="0" smtClean="0"/>
              <a:t> orta elementi </a:t>
            </a:r>
            <a:r>
              <a:rPr lang="tr-TR" dirty="0" err="1" smtClean="0"/>
              <a:t>axtardığımız</a:t>
            </a:r>
            <a:r>
              <a:rPr lang="tr-TR" dirty="0" smtClean="0"/>
              <a:t> </a:t>
            </a:r>
            <a:r>
              <a:rPr lang="tr-TR" dirty="0" err="1" smtClean="0"/>
              <a:t>elementlə</a:t>
            </a:r>
            <a:r>
              <a:rPr lang="tr-TR" dirty="0" smtClean="0"/>
              <a:t> </a:t>
            </a:r>
            <a:r>
              <a:rPr lang="tr-TR" dirty="0" err="1" smtClean="0"/>
              <a:t>müqayisə</a:t>
            </a:r>
            <a:r>
              <a:rPr lang="tr-TR" dirty="0" smtClean="0"/>
              <a:t> </a:t>
            </a:r>
            <a:r>
              <a:rPr lang="tr-TR" dirty="0" err="1" smtClean="0"/>
              <a:t>edək</a:t>
            </a:r>
            <a:r>
              <a:rPr lang="tr-TR" dirty="0" smtClean="0"/>
              <a:t>. </a:t>
            </a:r>
            <a:r>
              <a:rPr lang="tr-TR" dirty="0" err="1" smtClean="0"/>
              <a:t>Axtarılan</a:t>
            </a:r>
            <a:r>
              <a:rPr lang="tr-TR" dirty="0" smtClean="0"/>
              <a:t> element orta </a:t>
            </a:r>
            <a:r>
              <a:rPr lang="tr-TR" dirty="0" err="1" smtClean="0"/>
              <a:t>elementdən</a:t>
            </a:r>
            <a:r>
              <a:rPr lang="tr-TR" dirty="0" smtClean="0"/>
              <a:t> </a:t>
            </a:r>
            <a:r>
              <a:rPr lang="tr-TR" dirty="0" err="1" smtClean="0"/>
              <a:t>kiçikdirsə</a:t>
            </a:r>
            <a:r>
              <a:rPr lang="tr-TR" dirty="0" smtClean="0"/>
              <a:t> sola, ortadan </a:t>
            </a:r>
            <a:r>
              <a:rPr lang="tr-TR" dirty="0" err="1" smtClean="0"/>
              <a:t>böyükdürsə</a:t>
            </a:r>
            <a:r>
              <a:rPr lang="tr-TR" dirty="0" smtClean="0"/>
              <a:t>, </a:t>
            </a:r>
            <a:r>
              <a:rPr lang="tr-TR" dirty="0" err="1" smtClean="0"/>
              <a:t>axtarış</a:t>
            </a:r>
            <a:r>
              <a:rPr lang="tr-TR" dirty="0" smtClean="0"/>
              <a:t> yerini sağa </a:t>
            </a:r>
            <a:r>
              <a:rPr lang="tr-TR" dirty="0" err="1" smtClean="0"/>
              <a:t>köçürək</a:t>
            </a:r>
            <a:r>
              <a:rPr lang="tr-TR" dirty="0" smtClean="0"/>
              <a:t>. </a:t>
            </a:r>
            <a:endParaRPr lang="tr-TR" dirty="0"/>
          </a:p>
        </p:txBody>
      </p:sp>
      <p:pic>
        <p:nvPicPr>
          <p:cNvPr id="3" name="Resim 2"/>
          <p:cNvPicPr>
            <a:picLocks noChangeAspect="1"/>
          </p:cNvPicPr>
          <p:nvPr/>
        </p:nvPicPr>
        <p:blipFill>
          <a:blip r:embed="rId2"/>
          <a:stretch>
            <a:fillRect/>
          </a:stretch>
        </p:blipFill>
        <p:spPr>
          <a:xfrm>
            <a:off x="4168737" y="2611845"/>
            <a:ext cx="4017086" cy="1066800"/>
          </a:xfrm>
          <a:prstGeom prst="rect">
            <a:avLst/>
          </a:prstGeom>
          <a:ln w="38100">
            <a:noFill/>
          </a:ln>
        </p:spPr>
      </p:pic>
      <p:sp>
        <p:nvSpPr>
          <p:cNvPr id="5" name="Metin kutusu 4"/>
          <p:cNvSpPr txBox="1"/>
          <p:nvPr/>
        </p:nvSpPr>
        <p:spPr>
          <a:xfrm>
            <a:off x="1459915" y="3772304"/>
            <a:ext cx="9669417" cy="646331"/>
          </a:xfrm>
          <a:prstGeom prst="rect">
            <a:avLst/>
          </a:prstGeom>
          <a:noFill/>
        </p:spPr>
        <p:txBody>
          <a:bodyPr wrap="square" rtlCol="0">
            <a:spAutoFit/>
          </a:bodyPr>
          <a:lstStyle/>
          <a:p>
            <a:r>
              <a:rPr lang="tr-TR" dirty="0" err="1" smtClean="0"/>
              <a:t>Göründüyü</a:t>
            </a:r>
            <a:r>
              <a:rPr lang="tr-TR" dirty="0" smtClean="0"/>
              <a:t> kimi </a:t>
            </a:r>
            <a:r>
              <a:rPr lang="tr-TR" dirty="0" err="1" smtClean="0"/>
              <a:t>axtarılan</a:t>
            </a:r>
            <a:r>
              <a:rPr lang="tr-TR" dirty="0" smtClean="0"/>
              <a:t> element ortadaki </a:t>
            </a:r>
            <a:r>
              <a:rPr lang="tr-TR" dirty="0" err="1" smtClean="0"/>
              <a:t>elementdən</a:t>
            </a:r>
            <a:r>
              <a:rPr lang="tr-TR" dirty="0" smtClean="0"/>
              <a:t> </a:t>
            </a:r>
            <a:r>
              <a:rPr lang="tr-TR" dirty="0" err="1" smtClean="0"/>
              <a:t>böyükdür</a:t>
            </a:r>
            <a:r>
              <a:rPr lang="tr-TR" dirty="0" smtClean="0"/>
              <a:t>. Buna </a:t>
            </a:r>
            <a:r>
              <a:rPr lang="tr-TR" dirty="0" err="1" smtClean="0"/>
              <a:t>görə</a:t>
            </a:r>
            <a:r>
              <a:rPr lang="tr-TR" dirty="0" smtClean="0"/>
              <a:t> </a:t>
            </a:r>
            <a:r>
              <a:rPr lang="tr-TR" dirty="0" err="1" smtClean="0"/>
              <a:t>də</a:t>
            </a:r>
            <a:r>
              <a:rPr lang="tr-TR" dirty="0" smtClean="0"/>
              <a:t> </a:t>
            </a:r>
            <a:r>
              <a:rPr lang="tr-TR" dirty="0" err="1" smtClean="0"/>
              <a:t>başladılan</a:t>
            </a:r>
            <a:r>
              <a:rPr lang="tr-TR" dirty="0" smtClean="0"/>
              <a:t> element sağa </a:t>
            </a:r>
            <a:r>
              <a:rPr lang="tr-TR" dirty="0" err="1" smtClean="0"/>
              <a:t>köçürülür</a:t>
            </a:r>
            <a:r>
              <a:rPr lang="tr-TR" dirty="0" smtClean="0"/>
              <a:t>(</a:t>
            </a:r>
            <a:r>
              <a:rPr lang="tr-TR" dirty="0" err="1" smtClean="0"/>
              <a:t>Low</a:t>
            </a:r>
            <a:r>
              <a:rPr lang="tr-TR" dirty="0" smtClean="0"/>
              <a:t>)</a:t>
            </a:r>
            <a:endParaRPr lang="tr-TR" dirty="0"/>
          </a:p>
        </p:txBody>
      </p:sp>
      <p:pic>
        <p:nvPicPr>
          <p:cNvPr id="6" name="Resim 5"/>
          <p:cNvPicPr>
            <a:picLocks noChangeAspect="1"/>
          </p:cNvPicPr>
          <p:nvPr/>
        </p:nvPicPr>
        <p:blipFill>
          <a:blip r:embed="rId3"/>
          <a:stretch>
            <a:fillRect/>
          </a:stretch>
        </p:blipFill>
        <p:spPr>
          <a:xfrm>
            <a:off x="4255538" y="4375608"/>
            <a:ext cx="3774156" cy="1245526"/>
          </a:xfrm>
          <a:prstGeom prst="rect">
            <a:avLst/>
          </a:prstGeom>
        </p:spPr>
      </p:pic>
      <p:sp>
        <p:nvSpPr>
          <p:cNvPr id="7" name="Metin kutusu 6"/>
          <p:cNvSpPr txBox="1"/>
          <p:nvPr/>
        </p:nvSpPr>
        <p:spPr>
          <a:xfrm>
            <a:off x="1459915" y="5917804"/>
            <a:ext cx="8830712" cy="369332"/>
          </a:xfrm>
          <a:prstGeom prst="rect">
            <a:avLst/>
          </a:prstGeom>
          <a:noFill/>
        </p:spPr>
        <p:txBody>
          <a:bodyPr wrap="square" rtlCol="0">
            <a:spAutoFit/>
          </a:bodyPr>
          <a:lstStyle/>
          <a:p>
            <a:r>
              <a:rPr lang="tr-TR" dirty="0" err="1" smtClean="0"/>
              <a:t>Burda</a:t>
            </a:r>
            <a:r>
              <a:rPr lang="tr-TR" dirty="0" smtClean="0"/>
              <a:t> da </a:t>
            </a:r>
            <a:r>
              <a:rPr lang="tr-TR" dirty="0" err="1" smtClean="0"/>
              <a:t>axtarılan</a:t>
            </a:r>
            <a:r>
              <a:rPr lang="tr-TR" dirty="0" smtClean="0"/>
              <a:t> </a:t>
            </a:r>
            <a:r>
              <a:rPr lang="tr-TR" dirty="0" err="1" smtClean="0"/>
              <a:t>ədəd</a:t>
            </a:r>
            <a:r>
              <a:rPr lang="tr-TR" dirty="0" smtClean="0"/>
              <a:t> 56-dan </a:t>
            </a:r>
            <a:r>
              <a:rPr lang="tr-TR" dirty="0" err="1" smtClean="0"/>
              <a:t>kiçik</a:t>
            </a:r>
            <a:r>
              <a:rPr lang="tr-TR" dirty="0" smtClean="0"/>
              <a:t> olduğuna </a:t>
            </a:r>
            <a:r>
              <a:rPr lang="tr-TR" dirty="0" err="1" smtClean="0"/>
              <a:t>görə</a:t>
            </a:r>
            <a:r>
              <a:rPr lang="tr-TR" dirty="0" smtClean="0"/>
              <a:t> sola </a:t>
            </a:r>
            <a:r>
              <a:rPr lang="tr-TR" dirty="0" err="1" smtClean="0"/>
              <a:t>keçirilir</a:t>
            </a:r>
            <a:r>
              <a:rPr lang="tr-TR" dirty="0" smtClean="0"/>
              <a:t>.</a:t>
            </a:r>
            <a:endParaRPr lang="tr-TR" dirty="0"/>
          </a:p>
        </p:txBody>
      </p:sp>
    </p:spTree>
    <p:extLst>
      <p:ext uri="{BB962C8B-B14F-4D97-AF65-F5344CB8AC3E}">
        <p14:creationId xmlns:p14="http://schemas.microsoft.com/office/powerpoint/2010/main" val="580227003"/>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905451"/>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11"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pic>
        <p:nvPicPr>
          <p:cNvPr id="8" name="Resim 7"/>
          <p:cNvPicPr>
            <a:picLocks noChangeAspect="1"/>
          </p:cNvPicPr>
          <p:nvPr/>
        </p:nvPicPr>
        <p:blipFill>
          <a:blip r:embed="rId2"/>
          <a:stretch>
            <a:fillRect/>
          </a:stretch>
        </p:blipFill>
        <p:spPr>
          <a:xfrm>
            <a:off x="4099000" y="778241"/>
            <a:ext cx="4632962" cy="1344836"/>
          </a:xfrm>
          <a:prstGeom prst="rect">
            <a:avLst/>
          </a:prstGeom>
        </p:spPr>
      </p:pic>
      <p:sp>
        <p:nvSpPr>
          <p:cNvPr id="9" name="Metin kutusu 8"/>
          <p:cNvSpPr txBox="1"/>
          <p:nvPr/>
        </p:nvSpPr>
        <p:spPr>
          <a:xfrm>
            <a:off x="1512613" y="2560320"/>
            <a:ext cx="9166552" cy="2246769"/>
          </a:xfrm>
          <a:prstGeom prst="rect">
            <a:avLst/>
          </a:prstGeom>
          <a:noFill/>
        </p:spPr>
        <p:txBody>
          <a:bodyPr wrap="square" rtlCol="0">
            <a:spAutoFit/>
          </a:bodyPr>
          <a:lstStyle/>
          <a:p>
            <a:r>
              <a:rPr lang="tr-TR" dirty="0" err="1" smtClean="0"/>
              <a:t>Axtardığımız</a:t>
            </a:r>
            <a:r>
              <a:rPr lang="tr-TR" dirty="0" smtClean="0"/>
              <a:t> </a:t>
            </a:r>
            <a:r>
              <a:rPr lang="tr-TR" dirty="0" err="1" smtClean="0"/>
              <a:t>ədəd</a:t>
            </a:r>
            <a:r>
              <a:rPr lang="tr-TR" dirty="0" smtClean="0"/>
              <a:t> ortadaki </a:t>
            </a:r>
            <a:r>
              <a:rPr lang="tr-TR" dirty="0" err="1" smtClean="0"/>
              <a:t>elementə</a:t>
            </a:r>
            <a:r>
              <a:rPr lang="tr-TR" dirty="0" smtClean="0"/>
              <a:t> </a:t>
            </a:r>
            <a:r>
              <a:rPr lang="tr-TR" dirty="0" err="1" smtClean="0"/>
              <a:t>bərabər</a:t>
            </a:r>
            <a:r>
              <a:rPr lang="tr-TR" dirty="0" smtClean="0"/>
              <a:t> </a:t>
            </a:r>
            <a:r>
              <a:rPr lang="tr-TR" dirty="0" err="1" smtClean="0"/>
              <a:t>olarsa</a:t>
            </a:r>
            <a:r>
              <a:rPr lang="tr-TR" dirty="0" smtClean="0"/>
              <a:t> </a:t>
            </a:r>
            <a:r>
              <a:rPr lang="tr-TR" dirty="0" err="1" smtClean="0"/>
              <a:t>axtarışımız</a:t>
            </a:r>
            <a:r>
              <a:rPr lang="tr-TR" dirty="0" smtClean="0"/>
              <a:t> dayanır </a:t>
            </a:r>
            <a:r>
              <a:rPr lang="tr-TR" dirty="0" err="1" smtClean="0"/>
              <a:t>və</a:t>
            </a:r>
            <a:r>
              <a:rPr lang="tr-TR" dirty="0" smtClean="0"/>
              <a:t> lazım olan elementi tapmış </a:t>
            </a:r>
            <a:r>
              <a:rPr lang="tr-TR" dirty="0" err="1" smtClean="0"/>
              <a:t>oluruq</a:t>
            </a:r>
            <a:r>
              <a:rPr lang="tr-TR" dirty="0" smtClean="0"/>
              <a:t>. </a:t>
            </a:r>
            <a:endParaRPr lang="en-US" dirty="0" smtClean="0"/>
          </a:p>
          <a:p>
            <a:endParaRPr lang="en-US" dirty="0" smtClean="0"/>
          </a:p>
          <a:p>
            <a:r>
              <a:rPr lang="tr-TR" sz="3200" b="1" dirty="0" smtClean="0"/>
              <a:t>Zaman: </a:t>
            </a:r>
            <a:endParaRPr lang="en-US" sz="3200" b="1" dirty="0" smtClean="0"/>
          </a:p>
          <a:p>
            <a:pPr algn="ctr"/>
            <a:r>
              <a:rPr lang="tr-TR" dirty="0" smtClean="0"/>
              <a:t>● Best </a:t>
            </a:r>
            <a:r>
              <a:rPr lang="tr-TR" dirty="0" err="1" smtClean="0"/>
              <a:t>case</a:t>
            </a:r>
            <a:r>
              <a:rPr lang="tr-TR" dirty="0" smtClean="0"/>
              <a:t>: O(1) </a:t>
            </a:r>
            <a:endParaRPr lang="en-US" dirty="0" smtClean="0"/>
          </a:p>
          <a:p>
            <a:pPr algn="ctr"/>
            <a:r>
              <a:rPr lang="tr-TR" dirty="0" smtClean="0"/>
              <a:t>● </a:t>
            </a:r>
            <a:r>
              <a:rPr lang="tr-TR" dirty="0" err="1" smtClean="0"/>
              <a:t>Avarage</a:t>
            </a:r>
            <a:r>
              <a:rPr lang="tr-TR" dirty="0" smtClean="0"/>
              <a:t> </a:t>
            </a:r>
            <a:r>
              <a:rPr lang="tr-TR" dirty="0" err="1" smtClean="0"/>
              <a:t>case</a:t>
            </a:r>
            <a:r>
              <a:rPr lang="tr-TR" dirty="0" smtClean="0"/>
              <a:t>: O(</a:t>
            </a:r>
            <a:r>
              <a:rPr lang="tr-TR" dirty="0" err="1" smtClean="0"/>
              <a:t>log</a:t>
            </a:r>
            <a:r>
              <a:rPr lang="tr-TR" dirty="0" smtClean="0"/>
              <a:t> N) </a:t>
            </a:r>
            <a:endParaRPr lang="en-US" dirty="0" smtClean="0"/>
          </a:p>
          <a:p>
            <a:pPr algn="ctr"/>
            <a:r>
              <a:rPr lang="tr-TR" dirty="0" smtClean="0"/>
              <a:t>● </a:t>
            </a:r>
            <a:r>
              <a:rPr lang="tr-TR" dirty="0" err="1" smtClean="0"/>
              <a:t>Worst</a:t>
            </a:r>
            <a:r>
              <a:rPr lang="tr-TR" dirty="0" smtClean="0"/>
              <a:t> </a:t>
            </a:r>
            <a:r>
              <a:rPr lang="tr-TR" dirty="0" err="1" smtClean="0"/>
              <a:t>case</a:t>
            </a:r>
            <a:r>
              <a:rPr lang="tr-TR" dirty="0" smtClean="0"/>
              <a:t>: O(</a:t>
            </a:r>
            <a:r>
              <a:rPr lang="tr-TR" dirty="0" err="1" smtClean="0"/>
              <a:t>log</a:t>
            </a:r>
            <a:r>
              <a:rPr lang="tr-TR" dirty="0" smtClean="0"/>
              <a:t> N)</a:t>
            </a:r>
            <a:endParaRPr lang="tr-TR" dirty="0"/>
          </a:p>
        </p:txBody>
      </p:sp>
    </p:spTree>
    <p:extLst>
      <p:ext uri="{BB962C8B-B14F-4D97-AF65-F5344CB8AC3E}">
        <p14:creationId xmlns:p14="http://schemas.microsoft.com/office/powerpoint/2010/main" val="4269403036"/>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9873916"/>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111"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11291666"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2" name="Metin kutusu 1"/>
          <p:cNvSpPr txBox="1"/>
          <p:nvPr/>
        </p:nvSpPr>
        <p:spPr>
          <a:xfrm>
            <a:off x="1280160" y="589280"/>
            <a:ext cx="9849283" cy="3970318"/>
          </a:xfrm>
          <a:prstGeom prst="rect">
            <a:avLst/>
          </a:prstGeom>
          <a:noFill/>
        </p:spPr>
        <p:txBody>
          <a:bodyPr wrap="square" rtlCol="0">
            <a:spAutoFit/>
          </a:bodyPr>
          <a:lstStyle/>
          <a:p>
            <a:r>
              <a:rPr lang="tr-TR" sz="2400" b="1" dirty="0" smtClean="0"/>
              <a:t>İkili </a:t>
            </a:r>
            <a:r>
              <a:rPr lang="tr-TR" sz="2400" b="1" dirty="0" err="1" smtClean="0"/>
              <a:t>axtarışın</a:t>
            </a:r>
            <a:r>
              <a:rPr lang="tr-TR" sz="2400" b="1" dirty="0" smtClean="0"/>
              <a:t> </a:t>
            </a:r>
            <a:r>
              <a:rPr lang="tr-TR" sz="2400" b="1" dirty="0" err="1" smtClean="0"/>
              <a:t>üstünlükləri</a:t>
            </a:r>
            <a:r>
              <a:rPr lang="tr-TR" sz="2400" b="1" dirty="0" smtClean="0"/>
              <a:t>: </a:t>
            </a:r>
            <a:endParaRPr lang="en-US" sz="2400" b="1" dirty="0" smtClean="0"/>
          </a:p>
          <a:p>
            <a:endParaRPr lang="en-US" dirty="0" smtClean="0"/>
          </a:p>
          <a:p>
            <a:r>
              <a:rPr lang="tr-TR" dirty="0" smtClean="0"/>
              <a:t>● İkili </a:t>
            </a:r>
            <a:r>
              <a:rPr lang="tr-TR" dirty="0" err="1" smtClean="0"/>
              <a:t>axtarış</a:t>
            </a:r>
            <a:r>
              <a:rPr lang="tr-TR" dirty="0" smtClean="0"/>
              <a:t> </a:t>
            </a:r>
            <a:r>
              <a:rPr lang="tr-TR" dirty="0" err="1" smtClean="0"/>
              <a:t>xətti</a:t>
            </a:r>
            <a:r>
              <a:rPr lang="tr-TR" dirty="0" smtClean="0"/>
              <a:t> </a:t>
            </a:r>
            <a:r>
              <a:rPr lang="tr-TR" dirty="0" err="1" smtClean="0"/>
              <a:t>axtarışdan</a:t>
            </a:r>
            <a:r>
              <a:rPr lang="tr-TR" dirty="0" smtClean="0"/>
              <a:t> daha </a:t>
            </a:r>
            <a:r>
              <a:rPr lang="tr-TR" dirty="0" err="1" smtClean="0"/>
              <a:t>sürətlidir</a:t>
            </a:r>
            <a:r>
              <a:rPr lang="tr-TR" dirty="0" smtClean="0"/>
              <a:t>, </a:t>
            </a:r>
            <a:r>
              <a:rPr lang="tr-TR" dirty="0" err="1" smtClean="0"/>
              <a:t>xüsusən</a:t>
            </a:r>
            <a:r>
              <a:rPr lang="tr-TR" dirty="0" smtClean="0"/>
              <a:t> </a:t>
            </a:r>
            <a:r>
              <a:rPr lang="tr-TR" dirty="0" err="1" smtClean="0"/>
              <a:t>də</a:t>
            </a:r>
            <a:r>
              <a:rPr lang="tr-TR" dirty="0" smtClean="0"/>
              <a:t> </a:t>
            </a:r>
            <a:r>
              <a:rPr lang="tr-TR" dirty="0" err="1" smtClean="0"/>
              <a:t>böyük</a:t>
            </a:r>
            <a:r>
              <a:rPr lang="tr-TR" dirty="0" smtClean="0"/>
              <a:t> </a:t>
            </a:r>
            <a:r>
              <a:rPr lang="tr-TR" dirty="0" err="1" smtClean="0"/>
              <a:t>massivlər</a:t>
            </a:r>
            <a:r>
              <a:rPr lang="tr-TR" dirty="0" smtClean="0"/>
              <a:t> üçün. </a:t>
            </a:r>
            <a:endParaRPr lang="en-US" dirty="0" smtClean="0"/>
          </a:p>
          <a:p>
            <a:r>
              <a:rPr lang="tr-TR" dirty="0" smtClean="0"/>
              <a:t>● İkili </a:t>
            </a:r>
            <a:r>
              <a:rPr lang="tr-TR" dirty="0" err="1" smtClean="0"/>
              <a:t>axtarış</a:t>
            </a:r>
            <a:r>
              <a:rPr lang="tr-TR" dirty="0" smtClean="0"/>
              <a:t> </a:t>
            </a:r>
            <a:r>
              <a:rPr lang="tr-TR" dirty="0" err="1" smtClean="0"/>
              <a:t>xarici</a:t>
            </a:r>
            <a:r>
              <a:rPr lang="tr-TR" dirty="0" smtClean="0"/>
              <a:t> </a:t>
            </a:r>
            <a:r>
              <a:rPr lang="tr-TR" dirty="0" err="1" smtClean="0"/>
              <a:t>yaddaşda</a:t>
            </a:r>
            <a:r>
              <a:rPr lang="tr-TR" dirty="0" smtClean="0"/>
              <a:t>, </a:t>
            </a:r>
            <a:r>
              <a:rPr lang="tr-TR" dirty="0" err="1" smtClean="0"/>
              <a:t>məsələn</a:t>
            </a:r>
            <a:r>
              <a:rPr lang="tr-TR" dirty="0" smtClean="0"/>
              <a:t>, sabit </a:t>
            </a:r>
            <a:r>
              <a:rPr lang="tr-TR" dirty="0" err="1" smtClean="0"/>
              <a:t>diskdə</a:t>
            </a:r>
            <a:r>
              <a:rPr lang="tr-TR" dirty="0" smtClean="0"/>
              <a:t> </a:t>
            </a:r>
            <a:r>
              <a:rPr lang="tr-TR" dirty="0" err="1" smtClean="0"/>
              <a:t>və</a:t>
            </a:r>
            <a:r>
              <a:rPr lang="tr-TR" dirty="0" smtClean="0"/>
              <a:t> ya </a:t>
            </a:r>
            <a:r>
              <a:rPr lang="tr-TR" dirty="0" err="1" smtClean="0"/>
              <a:t>buludda</a:t>
            </a:r>
            <a:r>
              <a:rPr lang="tr-TR" dirty="0" smtClean="0"/>
              <a:t> </a:t>
            </a:r>
            <a:r>
              <a:rPr lang="tr-TR" dirty="0" err="1" smtClean="0"/>
              <a:t>saxlanılan</a:t>
            </a:r>
            <a:r>
              <a:rPr lang="tr-TR" dirty="0" smtClean="0"/>
              <a:t> </a:t>
            </a:r>
            <a:r>
              <a:rPr lang="tr-TR" dirty="0" err="1" smtClean="0"/>
              <a:t>böyük</a:t>
            </a:r>
            <a:r>
              <a:rPr lang="tr-TR" dirty="0" smtClean="0"/>
              <a:t> </a:t>
            </a:r>
            <a:r>
              <a:rPr lang="tr-TR" dirty="0" err="1" smtClean="0"/>
              <a:t>verilənlər</a:t>
            </a:r>
            <a:r>
              <a:rPr lang="tr-TR" dirty="0" smtClean="0"/>
              <a:t> toplusunu </a:t>
            </a:r>
            <a:r>
              <a:rPr lang="tr-TR" dirty="0" err="1" smtClean="0"/>
              <a:t>axtarmaq</a:t>
            </a:r>
            <a:r>
              <a:rPr lang="tr-TR" dirty="0" smtClean="0"/>
              <a:t> üçün </a:t>
            </a:r>
            <a:r>
              <a:rPr lang="tr-TR" dirty="0" err="1" smtClean="0"/>
              <a:t>çox</a:t>
            </a:r>
            <a:r>
              <a:rPr lang="tr-TR" dirty="0" smtClean="0"/>
              <a:t> </a:t>
            </a:r>
            <a:r>
              <a:rPr lang="tr-TR" dirty="0" err="1" smtClean="0"/>
              <a:t>uyğundur</a:t>
            </a:r>
            <a:r>
              <a:rPr lang="tr-TR" dirty="0" smtClean="0"/>
              <a:t>. </a:t>
            </a:r>
            <a:endParaRPr lang="en-US" dirty="0" smtClean="0"/>
          </a:p>
          <a:p>
            <a:endParaRPr lang="en-US" dirty="0"/>
          </a:p>
          <a:p>
            <a:endParaRPr lang="en-US" dirty="0" smtClean="0"/>
          </a:p>
          <a:p>
            <a:r>
              <a:rPr lang="tr-TR" sz="2400" b="1" dirty="0" smtClean="0"/>
              <a:t>İkili </a:t>
            </a:r>
            <a:r>
              <a:rPr lang="tr-TR" sz="2400" b="1" dirty="0" err="1" smtClean="0"/>
              <a:t>axtarışın</a:t>
            </a:r>
            <a:r>
              <a:rPr lang="tr-TR" sz="2400" b="1" dirty="0" smtClean="0"/>
              <a:t> </a:t>
            </a:r>
            <a:r>
              <a:rPr lang="tr-TR" sz="2400" b="1" dirty="0" err="1" smtClean="0"/>
              <a:t>çatışmazlıqları</a:t>
            </a:r>
            <a:r>
              <a:rPr lang="tr-TR" sz="2400" b="1" dirty="0" smtClean="0"/>
              <a:t>: </a:t>
            </a:r>
            <a:endParaRPr lang="en-US" sz="2400" b="1" dirty="0" smtClean="0"/>
          </a:p>
          <a:p>
            <a:endParaRPr lang="en-US" sz="2400" b="1" dirty="0" smtClean="0"/>
          </a:p>
          <a:p>
            <a:r>
              <a:rPr lang="tr-TR" dirty="0" smtClean="0"/>
              <a:t>● </a:t>
            </a:r>
            <a:r>
              <a:rPr lang="tr-TR" dirty="0" err="1" smtClean="0"/>
              <a:t>Massiv</a:t>
            </a:r>
            <a:r>
              <a:rPr lang="tr-TR" dirty="0" smtClean="0"/>
              <a:t> </a:t>
            </a:r>
            <a:r>
              <a:rPr lang="tr-TR" dirty="0" err="1" smtClean="0"/>
              <a:t>çeşidlənməlidir</a:t>
            </a:r>
            <a:r>
              <a:rPr lang="tr-TR" dirty="0" smtClean="0"/>
              <a:t>. </a:t>
            </a:r>
            <a:endParaRPr lang="en-US" dirty="0" smtClean="0"/>
          </a:p>
          <a:p>
            <a:r>
              <a:rPr lang="tr-TR" dirty="0" smtClean="0"/>
              <a:t>● </a:t>
            </a:r>
            <a:r>
              <a:rPr lang="tr-TR" dirty="0" err="1" smtClean="0"/>
              <a:t>Binar</a:t>
            </a:r>
            <a:r>
              <a:rPr lang="tr-TR" dirty="0" smtClean="0"/>
              <a:t> </a:t>
            </a:r>
            <a:r>
              <a:rPr lang="tr-TR" dirty="0" err="1" smtClean="0"/>
              <a:t>axtarış</a:t>
            </a:r>
            <a:r>
              <a:rPr lang="tr-TR" dirty="0" smtClean="0"/>
              <a:t>, </a:t>
            </a:r>
            <a:r>
              <a:rPr lang="tr-TR" dirty="0" err="1" smtClean="0"/>
              <a:t>axtarılan</a:t>
            </a:r>
            <a:r>
              <a:rPr lang="tr-TR" dirty="0" smtClean="0"/>
              <a:t> </a:t>
            </a:r>
            <a:r>
              <a:rPr lang="tr-TR" dirty="0" err="1" smtClean="0"/>
              <a:t>məlumat</a:t>
            </a:r>
            <a:r>
              <a:rPr lang="tr-TR" dirty="0" smtClean="0"/>
              <a:t> </a:t>
            </a:r>
            <a:r>
              <a:rPr lang="tr-TR" dirty="0" err="1" smtClean="0"/>
              <a:t>strukturunun</a:t>
            </a:r>
            <a:r>
              <a:rPr lang="tr-TR" dirty="0" smtClean="0"/>
              <a:t> bitişik </a:t>
            </a:r>
            <a:r>
              <a:rPr lang="tr-TR" dirty="0" err="1" smtClean="0"/>
              <a:t>yaddaş</a:t>
            </a:r>
            <a:r>
              <a:rPr lang="tr-TR" dirty="0" smtClean="0"/>
              <a:t> </a:t>
            </a:r>
            <a:r>
              <a:rPr lang="tr-TR" dirty="0" err="1" smtClean="0"/>
              <a:t>yerlərində</a:t>
            </a:r>
            <a:r>
              <a:rPr lang="tr-TR" dirty="0" smtClean="0"/>
              <a:t> </a:t>
            </a:r>
            <a:r>
              <a:rPr lang="tr-TR" dirty="0" err="1" smtClean="0"/>
              <a:t>saxlanmasını</a:t>
            </a:r>
            <a:r>
              <a:rPr lang="tr-TR" dirty="0" smtClean="0"/>
              <a:t> </a:t>
            </a:r>
            <a:r>
              <a:rPr lang="tr-TR" dirty="0" err="1" smtClean="0"/>
              <a:t>tələb</a:t>
            </a:r>
            <a:r>
              <a:rPr lang="tr-TR" dirty="0" smtClean="0"/>
              <a:t> </a:t>
            </a:r>
            <a:r>
              <a:rPr lang="tr-TR" dirty="0" err="1" smtClean="0"/>
              <a:t>edir</a:t>
            </a:r>
            <a:r>
              <a:rPr lang="tr-TR" dirty="0" smtClean="0"/>
              <a:t>. </a:t>
            </a:r>
            <a:endParaRPr lang="en-US" dirty="0" smtClean="0"/>
          </a:p>
          <a:p>
            <a:r>
              <a:rPr lang="tr-TR" dirty="0" smtClean="0"/>
              <a:t>● </a:t>
            </a:r>
            <a:r>
              <a:rPr lang="tr-TR" dirty="0" err="1" smtClean="0"/>
              <a:t>Binar</a:t>
            </a:r>
            <a:r>
              <a:rPr lang="tr-TR" dirty="0" smtClean="0"/>
              <a:t> </a:t>
            </a:r>
            <a:r>
              <a:rPr lang="tr-TR" dirty="0" err="1" smtClean="0"/>
              <a:t>axtarış</a:t>
            </a:r>
            <a:r>
              <a:rPr lang="tr-TR" dirty="0" smtClean="0"/>
              <a:t> </a:t>
            </a:r>
            <a:r>
              <a:rPr lang="tr-TR" dirty="0" err="1" smtClean="0"/>
              <a:t>massivin</a:t>
            </a:r>
            <a:r>
              <a:rPr lang="tr-TR" dirty="0" smtClean="0"/>
              <a:t> </a:t>
            </a:r>
            <a:r>
              <a:rPr lang="tr-TR" dirty="0" err="1" smtClean="0"/>
              <a:t>elementlərinin</a:t>
            </a:r>
            <a:r>
              <a:rPr lang="tr-TR" dirty="0" smtClean="0"/>
              <a:t> </a:t>
            </a:r>
            <a:r>
              <a:rPr lang="tr-TR" dirty="0" err="1" smtClean="0"/>
              <a:t>müqayisə</a:t>
            </a:r>
            <a:r>
              <a:rPr lang="tr-TR" dirty="0" smtClean="0"/>
              <a:t> oluna </a:t>
            </a:r>
            <a:r>
              <a:rPr lang="tr-TR" dirty="0" err="1" smtClean="0"/>
              <a:t>bilən</a:t>
            </a:r>
            <a:r>
              <a:rPr lang="tr-TR" dirty="0" smtClean="0"/>
              <a:t> olmasını </a:t>
            </a:r>
            <a:r>
              <a:rPr lang="tr-TR" dirty="0" err="1" smtClean="0"/>
              <a:t>tələb</a:t>
            </a:r>
            <a:r>
              <a:rPr lang="tr-TR" dirty="0" smtClean="0"/>
              <a:t> </a:t>
            </a:r>
            <a:r>
              <a:rPr lang="tr-TR" dirty="0" err="1" smtClean="0"/>
              <a:t>edir</a:t>
            </a:r>
            <a:r>
              <a:rPr lang="tr-TR" dirty="0" smtClean="0"/>
              <a:t>, </a:t>
            </a:r>
            <a:r>
              <a:rPr lang="tr-TR" dirty="0" err="1" smtClean="0"/>
              <a:t>yəni</a:t>
            </a:r>
            <a:r>
              <a:rPr lang="tr-TR" dirty="0" smtClean="0"/>
              <a:t> onlar sıralana </a:t>
            </a:r>
            <a:r>
              <a:rPr lang="tr-TR" dirty="0" err="1" smtClean="0"/>
              <a:t>bilməlidir</a:t>
            </a:r>
            <a:r>
              <a:rPr lang="tr-TR" dirty="0" smtClean="0"/>
              <a:t>.</a:t>
            </a:r>
            <a:endParaRPr lang="tr-TR" dirty="0"/>
          </a:p>
        </p:txBody>
      </p:sp>
    </p:spTree>
    <p:extLst>
      <p:ext uri="{BB962C8B-B14F-4D97-AF65-F5344CB8AC3E}">
        <p14:creationId xmlns:p14="http://schemas.microsoft.com/office/powerpoint/2010/main" val="3152803315"/>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pic>
        <p:nvPicPr>
          <p:cNvPr id="3" name="Resim 2"/>
          <p:cNvPicPr>
            <a:picLocks noChangeAspect="1"/>
          </p:cNvPicPr>
          <p:nvPr/>
        </p:nvPicPr>
        <p:blipFill rotWithShape="1">
          <a:blip r:embed="rId2"/>
          <a:srcRect l="1079" t="2144" b="868"/>
          <a:stretch/>
        </p:blipFill>
        <p:spPr>
          <a:xfrm>
            <a:off x="243840" y="619759"/>
            <a:ext cx="5362000" cy="5405121"/>
          </a:xfrm>
          <a:prstGeom prst="rect">
            <a:avLst/>
          </a:prstGeom>
        </p:spPr>
      </p:pic>
    </p:spTree>
    <p:extLst>
      <p:ext uri="{BB962C8B-B14F-4D97-AF65-F5344CB8AC3E}">
        <p14:creationId xmlns:p14="http://schemas.microsoft.com/office/powerpoint/2010/main" val="590301926"/>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0"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0"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2" name="Metin kutusu 1"/>
          <p:cNvSpPr txBox="1"/>
          <p:nvPr/>
        </p:nvSpPr>
        <p:spPr>
          <a:xfrm>
            <a:off x="883920" y="508000"/>
            <a:ext cx="10245634" cy="5909310"/>
          </a:xfrm>
          <a:prstGeom prst="rect">
            <a:avLst/>
          </a:prstGeom>
          <a:noFill/>
        </p:spPr>
        <p:txBody>
          <a:bodyPr wrap="square" rtlCol="0">
            <a:spAutoFit/>
          </a:bodyPr>
          <a:lstStyle/>
          <a:p>
            <a:r>
              <a:rPr lang="tr-TR" dirty="0"/>
              <a:t>Bu </a:t>
            </a:r>
            <a:r>
              <a:rPr lang="tr-TR" dirty="0" err="1"/>
              <a:t>method</a:t>
            </a:r>
            <a:r>
              <a:rPr lang="tr-TR" dirty="0"/>
              <a:t> </a:t>
            </a:r>
            <a:r>
              <a:rPr lang="tr-TR" dirty="0" err="1"/>
              <a:t>massivdəki</a:t>
            </a:r>
            <a:r>
              <a:rPr lang="tr-TR" dirty="0"/>
              <a:t> lazım olan elementi </a:t>
            </a:r>
            <a:r>
              <a:rPr lang="tr-TR" dirty="0" err="1"/>
              <a:t>tapmaq</a:t>
            </a:r>
            <a:r>
              <a:rPr lang="tr-TR" dirty="0"/>
              <a:t> üçün </a:t>
            </a:r>
            <a:r>
              <a:rPr lang="tr-TR" dirty="0" err="1"/>
              <a:t>işlədilir</a:t>
            </a:r>
            <a:r>
              <a:rPr lang="tr-TR" dirty="0"/>
              <a:t> , </a:t>
            </a:r>
            <a:r>
              <a:rPr lang="tr-TR" dirty="0" err="1"/>
              <a:t>başqa</a:t>
            </a:r>
            <a:r>
              <a:rPr lang="tr-TR" dirty="0"/>
              <a:t> </a:t>
            </a:r>
            <a:r>
              <a:rPr lang="tr-TR" dirty="0" err="1"/>
              <a:t>axtariş</a:t>
            </a:r>
            <a:r>
              <a:rPr lang="tr-TR" dirty="0"/>
              <a:t> </a:t>
            </a:r>
            <a:r>
              <a:rPr lang="tr-TR" dirty="0" err="1"/>
              <a:t>methodlarından</a:t>
            </a:r>
            <a:r>
              <a:rPr lang="tr-TR" dirty="0"/>
              <a:t> </a:t>
            </a:r>
            <a:r>
              <a:rPr lang="tr-TR" dirty="0" err="1"/>
              <a:t>fərqi</a:t>
            </a:r>
            <a:r>
              <a:rPr lang="tr-TR" dirty="0"/>
              <a:t> sabit </a:t>
            </a:r>
            <a:r>
              <a:rPr lang="tr-TR" dirty="0" err="1"/>
              <a:t>addimlarla</a:t>
            </a:r>
            <a:r>
              <a:rPr lang="tr-TR" dirty="0"/>
              <a:t> , </a:t>
            </a:r>
            <a:r>
              <a:rPr lang="tr-TR" dirty="0" err="1"/>
              <a:t>əsasəndə</a:t>
            </a:r>
            <a:r>
              <a:rPr lang="tr-TR" dirty="0"/>
              <a:t> bir </a:t>
            </a:r>
            <a:r>
              <a:rPr lang="tr-TR" dirty="0" err="1"/>
              <a:t>neçəlik</a:t>
            </a:r>
            <a:r>
              <a:rPr lang="tr-TR" dirty="0"/>
              <a:t> </a:t>
            </a:r>
            <a:r>
              <a:rPr lang="tr-TR" dirty="0" err="1"/>
              <a:t>addim</a:t>
            </a:r>
            <a:r>
              <a:rPr lang="tr-TR" dirty="0"/>
              <a:t> </a:t>
            </a:r>
            <a:r>
              <a:rPr lang="tr-TR" dirty="0" err="1"/>
              <a:t>tulanaraq</a:t>
            </a:r>
            <a:r>
              <a:rPr lang="tr-TR" dirty="0"/>
              <a:t> özü üçün bir </a:t>
            </a:r>
            <a:r>
              <a:rPr lang="tr-TR" dirty="0" err="1"/>
              <a:t>müqayisə</a:t>
            </a:r>
            <a:r>
              <a:rPr lang="tr-TR" dirty="0"/>
              <a:t> </a:t>
            </a:r>
            <a:r>
              <a:rPr lang="tr-TR" dirty="0" err="1"/>
              <a:t>araliği</a:t>
            </a:r>
            <a:r>
              <a:rPr lang="tr-TR" dirty="0"/>
              <a:t> </a:t>
            </a:r>
            <a:r>
              <a:rPr lang="tr-TR" dirty="0" err="1"/>
              <a:t>yaradir</a:t>
            </a:r>
            <a:r>
              <a:rPr lang="tr-TR" dirty="0"/>
              <a:t> . </a:t>
            </a:r>
            <a:r>
              <a:rPr lang="tr-TR" dirty="0" err="1"/>
              <a:t>Axtarilan</a:t>
            </a:r>
            <a:r>
              <a:rPr lang="tr-TR" dirty="0"/>
              <a:t> element bu </a:t>
            </a:r>
            <a:r>
              <a:rPr lang="tr-TR" dirty="0" err="1"/>
              <a:t>araliqdaa</a:t>
            </a:r>
            <a:r>
              <a:rPr lang="tr-TR" dirty="0"/>
              <a:t> olmasa , bu </a:t>
            </a:r>
            <a:r>
              <a:rPr lang="tr-TR" dirty="0" err="1"/>
              <a:t>araliğı</a:t>
            </a:r>
            <a:r>
              <a:rPr lang="tr-TR" dirty="0"/>
              <a:t> </a:t>
            </a:r>
            <a:r>
              <a:rPr lang="tr-TR" dirty="0" err="1"/>
              <a:t>birbaşa</a:t>
            </a:r>
            <a:r>
              <a:rPr lang="tr-TR" dirty="0"/>
              <a:t> </a:t>
            </a:r>
            <a:r>
              <a:rPr lang="tr-TR" dirty="0" err="1"/>
              <a:t>atlayır</a:t>
            </a:r>
            <a:r>
              <a:rPr lang="tr-TR" dirty="0"/>
              <a:t>.</a:t>
            </a:r>
          </a:p>
          <a:p>
            <a:r>
              <a:rPr lang="tr-TR" dirty="0" err="1"/>
              <a:t>Addımın</a:t>
            </a:r>
            <a:r>
              <a:rPr lang="tr-TR" dirty="0"/>
              <a:t> </a:t>
            </a:r>
            <a:r>
              <a:rPr lang="tr-TR" dirty="0" err="1"/>
              <a:t>böyüklüyü</a:t>
            </a:r>
            <a:r>
              <a:rPr lang="tr-TR" dirty="0"/>
              <a:t> </a:t>
            </a:r>
            <a:r>
              <a:rPr lang="tr-TR" dirty="0" err="1"/>
              <a:t>massivdəki</a:t>
            </a:r>
            <a:r>
              <a:rPr lang="tr-TR" dirty="0"/>
              <a:t> </a:t>
            </a:r>
            <a:r>
              <a:rPr lang="tr-TR" dirty="0" err="1"/>
              <a:t>elementlərin</a:t>
            </a:r>
            <a:r>
              <a:rPr lang="tr-TR" dirty="0"/>
              <a:t> sayının kök altısıdır . </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tr-TR" dirty="0"/>
              <a:t>Bu </a:t>
            </a:r>
            <a:r>
              <a:rPr lang="tr-TR" dirty="0" err="1"/>
              <a:t>method</a:t>
            </a:r>
            <a:r>
              <a:rPr lang="tr-TR" dirty="0"/>
              <a:t> </a:t>
            </a:r>
            <a:r>
              <a:rPr lang="tr-TR" dirty="0" err="1"/>
              <a:t>massivdəki</a:t>
            </a:r>
            <a:r>
              <a:rPr lang="tr-TR" dirty="0"/>
              <a:t> lazım olan elementi </a:t>
            </a:r>
            <a:r>
              <a:rPr lang="tr-TR" dirty="0" err="1"/>
              <a:t>tapmaq</a:t>
            </a:r>
            <a:r>
              <a:rPr lang="tr-TR" dirty="0"/>
              <a:t> üçün </a:t>
            </a:r>
            <a:r>
              <a:rPr lang="tr-TR" dirty="0" err="1"/>
              <a:t>işlədilir</a:t>
            </a:r>
            <a:r>
              <a:rPr lang="tr-TR" dirty="0"/>
              <a:t> , </a:t>
            </a:r>
            <a:r>
              <a:rPr lang="tr-TR" dirty="0" err="1"/>
              <a:t>başqa</a:t>
            </a:r>
            <a:r>
              <a:rPr lang="tr-TR" dirty="0"/>
              <a:t> </a:t>
            </a:r>
            <a:r>
              <a:rPr lang="tr-TR" dirty="0" err="1"/>
              <a:t>axtariş</a:t>
            </a:r>
            <a:r>
              <a:rPr lang="tr-TR" dirty="0"/>
              <a:t> </a:t>
            </a:r>
            <a:r>
              <a:rPr lang="tr-TR" dirty="0" err="1"/>
              <a:t>methodlarından</a:t>
            </a:r>
            <a:r>
              <a:rPr lang="tr-TR" dirty="0"/>
              <a:t> </a:t>
            </a:r>
            <a:r>
              <a:rPr lang="tr-TR" dirty="0" err="1"/>
              <a:t>fərqi</a:t>
            </a:r>
            <a:r>
              <a:rPr lang="tr-TR" dirty="0"/>
              <a:t> sabit </a:t>
            </a:r>
            <a:r>
              <a:rPr lang="tr-TR" dirty="0" err="1"/>
              <a:t>addimlarla</a:t>
            </a:r>
            <a:r>
              <a:rPr lang="tr-TR" dirty="0"/>
              <a:t> , </a:t>
            </a:r>
            <a:r>
              <a:rPr lang="tr-TR" dirty="0" err="1"/>
              <a:t>əsasəndə</a:t>
            </a:r>
            <a:r>
              <a:rPr lang="tr-TR" dirty="0"/>
              <a:t> bir </a:t>
            </a:r>
            <a:r>
              <a:rPr lang="tr-TR" dirty="0" err="1"/>
              <a:t>neçəlik</a:t>
            </a:r>
            <a:r>
              <a:rPr lang="tr-TR" dirty="0"/>
              <a:t> </a:t>
            </a:r>
            <a:r>
              <a:rPr lang="tr-TR" dirty="0" err="1"/>
              <a:t>addim</a:t>
            </a:r>
            <a:r>
              <a:rPr lang="tr-TR" dirty="0"/>
              <a:t> </a:t>
            </a:r>
            <a:r>
              <a:rPr lang="tr-TR" dirty="0" err="1"/>
              <a:t>tulanaraq</a:t>
            </a:r>
            <a:r>
              <a:rPr lang="tr-TR" dirty="0"/>
              <a:t> özü üçün bir </a:t>
            </a:r>
            <a:r>
              <a:rPr lang="tr-TR" dirty="0" err="1"/>
              <a:t>müqayisə</a:t>
            </a:r>
            <a:r>
              <a:rPr lang="tr-TR" dirty="0"/>
              <a:t> </a:t>
            </a:r>
            <a:r>
              <a:rPr lang="tr-TR" dirty="0" err="1"/>
              <a:t>araliği</a:t>
            </a:r>
            <a:r>
              <a:rPr lang="tr-TR" dirty="0"/>
              <a:t> </a:t>
            </a:r>
            <a:r>
              <a:rPr lang="tr-TR" dirty="0" err="1"/>
              <a:t>yaradir</a:t>
            </a:r>
            <a:r>
              <a:rPr lang="tr-TR" dirty="0"/>
              <a:t> . </a:t>
            </a:r>
            <a:r>
              <a:rPr lang="tr-TR" dirty="0" err="1"/>
              <a:t>Axtarilan</a:t>
            </a:r>
            <a:r>
              <a:rPr lang="tr-TR" dirty="0"/>
              <a:t> element bu </a:t>
            </a:r>
            <a:r>
              <a:rPr lang="tr-TR" dirty="0" err="1"/>
              <a:t>araliqdaa</a:t>
            </a:r>
            <a:r>
              <a:rPr lang="tr-TR" dirty="0"/>
              <a:t> olmasa , bu </a:t>
            </a:r>
            <a:r>
              <a:rPr lang="tr-TR" dirty="0" err="1"/>
              <a:t>araliğı</a:t>
            </a:r>
            <a:r>
              <a:rPr lang="tr-TR" dirty="0"/>
              <a:t> </a:t>
            </a:r>
            <a:r>
              <a:rPr lang="tr-TR" dirty="0" err="1"/>
              <a:t>birbaşa</a:t>
            </a:r>
            <a:r>
              <a:rPr lang="tr-TR" dirty="0"/>
              <a:t> </a:t>
            </a:r>
            <a:r>
              <a:rPr lang="tr-TR" dirty="0" err="1"/>
              <a:t>atlayır</a:t>
            </a:r>
            <a:r>
              <a:rPr lang="tr-TR" dirty="0"/>
              <a:t>.</a:t>
            </a:r>
          </a:p>
          <a:p>
            <a:r>
              <a:rPr lang="tr-TR" dirty="0" err="1"/>
              <a:t>Addımın</a:t>
            </a:r>
            <a:r>
              <a:rPr lang="tr-TR" dirty="0"/>
              <a:t> </a:t>
            </a:r>
            <a:r>
              <a:rPr lang="tr-TR" dirty="0" err="1"/>
              <a:t>böyüklüyü</a:t>
            </a:r>
            <a:r>
              <a:rPr lang="tr-TR" dirty="0"/>
              <a:t> </a:t>
            </a:r>
            <a:r>
              <a:rPr lang="tr-TR" dirty="0" err="1"/>
              <a:t>massivdəki</a:t>
            </a:r>
            <a:r>
              <a:rPr lang="tr-TR" dirty="0"/>
              <a:t> </a:t>
            </a:r>
            <a:r>
              <a:rPr lang="tr-TR" dirty="0" err="1"/>
              <a:t>elementlərin</a:t>
            </a:r>
            <a:r>
              <a:rPr lang="tr-TR" dirty="0"/>
              <a:t> sayının kök altısıdır . </a:t>
            </a:r>
          </a:p>
          <a:p>
            <a:endParaRPr lang="tr-TR" dirty="0"/>
          </a:p>
          <a:p>
            <a:endParaRPr lang="tr-TR" dirty="0"/>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5" name="Nesne 4"/>
          <p:cNvGraphicFramePr>
            <a:graphicFrameLocks/>
          </p:cNvGraphicFramePr>
          <p:nvPr>
            <p:extLst>
              <p:ext uri="{D42A27DB-BD31-4B8C-83A1-F6EECF244321}">
                <p14:modId xmlns:p14="http://schemas.microsoft.com/office/powerpoint/2010/main" val="4182499156"/>
              </p:ext>
            </p:extLst>
          </p:nvPr>
        </p:nvGraphicFramePr>
        <p:xfrm>
          <a:off x="3626728" y="2213928"/>
          <a:ext cx="4770846" cy="2070670"/>
        </p:xfrm>
        <a:graphic>
          <a:graphicData uri="http://schemas.openxmlformats.org/presentationml/2006/ole">
            <mc:AlternateContent xmlns:mc="http://schemas.openxmlformats.org/markup-compatibility/2006">
              <mc:Choice xmlns:v="urn:schemas-microsoft-com:vml" Requires="v">
                <p:oleObj spid="_x0000_s4100" name="Resim" r:id="rId3" imgW="5200000" imgH="2257143" progId="StaticDib">
                  <p:embed/>
                </p:oleObj>
              </mc:Choice>
              <mc:Fallback>
                <p:oleObj name="Resim" r:id="rId3" imgW="5200000" imgH="2257143" progId="StaticDib">
                  <p:embed/>
                  <p:pic>
                    <p:nvPicPr>
                      <p:cNvPr id="0" name="rectole000000000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6728" y="2213928"/>
                        <a:ext cx="4770846" cy="2070670"/>
                      </a:xfrm>
                      <a:prstGeom prst="rect">
                        <a:avLst/>
                      </a:prstGeom>
                      <a:solidFill>
                        <a:srgbClr val="FFFFFF"/>
                      </a:solidFill>
                      <a:ln>
                        <a:noFill/>
                      </a:ln>
                    </p:spPr>
                  </p:pic>
                </p:oleObj>
              </mc:Fallback>
            </mc:AlternateContent>
          </a:graphicData>
        </a:graphic>
      </p:graphicFrame>
    </p:spTree>
    <p:extLst>
      <p:ext uri="{BB962C8B-B14F-4D97-AF65-F5344CB8AC3E}">
        <p14:creationId xmlns:p14="http://schemas.microsoft.com/office/powerpoint/2010/main" val="4062591450"/>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8027657"/>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0"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0"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Metin kutusu 5"/>
          <p:cNvSpPr txBox="1"/>
          <p:nvPr/>
        </p:nvSpPr>
        <p:spPr>
          <a:xfrm>
            <a:off x="853440" y="497840"/>
            <a:ext cx="10276114" cy="7940635"/>
          </a:xfrm>
          <a:prstGeom prst="rect">
            <a:avLst/>
          </a:prstGeom>
          <a:noFill/>
        </p:spPr>
        <p:txBody>
          <a:bodyPr wrap="square" rtlCol="0">
            <a:spAutoFit/>
          </a:bodyPr>
          <a:lstStyle/>
          <a:p>
            <a:r>
              <a:rPr lang="en-US" sz="2400" b="1" dirty="0" smtClean="0"/>
              <a:t>Example :</a:t>
            </a:r>
          </a:p>
          <a:p>
            <a:endParaRPr lang="en-US" dirty="0" smtClean="0"/>
          </a:p>
          <a:p>
            <a:r>
              <a:rPr lang="tr-TR" dirty="0" err="1"/>
              <a:t>Bizə</a:t>
            </a:r>
            <a:r>
              <a:rPr lang="tr-TR" dirty="0"/>
              <a:t> verilmiş [] = {0, 1, 1, 2, 3, 5, 8, 13, 21, 55, 77, 89, 101, 201, 256, 780} bu </a:t>
            </a:r>
            <a:r>
              <a:rPr lang="tr-TR" dirty="0" err="1"/>
              <a:t>massivdə</a:t>
            </a:r>
            <a:r>
              <a:rPr lang="tr-TR" dirty="0"/>
              <a:t>  77 elementin </a:t>
            </a:r>
            <a:r>
              <a:rPr lang="tr-TR" dirty="0" err="1"/>
              <a:t>axtarırıq</a:t>
            </a:r>
            <a:r>
              <a:rPr lang="tr-TR" dirty="0"/>
              <a:t> </a:t>
            </a:r>
          </a:p>
          <a:p>
            <a:r>
              <a:rPr lang="tr-TR" dirty="0"/>
              <a:t>1 . </a:t>
            </a:r>
            <a:r>
              <a:rPr lang="tr-TR" dirty="0" err="1"/>
              <a:t>Əvvəlcə</a:t>
            </a:r>
            <a:r>
              <a:rPr lang="tr-TR" dirty="0"/>
              <a:t> </a:t>
            </a:r>
            <a:r>
              <a:rPr lang="tr-TR" dirty="0" err="1"/>
              <a:t>siçrayiş</a:t>
            </a:r>
            <a:r>
              <a:rPr lang="tr-TR" dirty="0"/>
              <a:t> </a:t>
            </a:r>
            <a:r>
              <a:rPr lang="tr-TR" dirty="0" err="1"/>
              <a:t>vahididni</a:t>
            </a:r>
            <a:r>
              <a:rPr lang="tr-TR" dirty="0"/>
              <a:t> </a:t>
            </a:r>
            <a:r>
              <a:rPr lang="tr-TR" dirty="0" err="1"/>
              <a:t>təyin</a:t>
            </a:r>
            <a:r>
              <a:rPr lang="tr-TR" dirty="0"/>
              <a:t> </a:t>
            </a:r>
            <a:r>
              <a:rPr lang="tr-TR" dirty="0" err="1"/>
              <a:t>edək</a:t>
            </a:r>
            <a:r>
              <a:rPr lang="tr-TR" dirty="0"/>
              <a:t> </a:t>
            </a:r>
          </a:p>
          <a:p>
            <a:r>
              <a:rPr lang="tr-TR" dirty="0"/>
              <a:t> m = √n = 4                n-</a:t>
            </a:r>
            <a:r>
              <a:rPr lang="tr-TR" dirty="0" err="1"/>
              <a:t>elementlərin</a:t>
            </a:r>
            <a:r>
              <a:rPr lang="tr-TR" dirty="0"/>
              <a:t> sayı , </a:t>
            </a:r>
            <a:r>
              <a:rPr lang="tr-TR" dirty="0" err="1"/>
              <a:t>massivin</a:t>
            </a:r>
            <a:r>
              <a:rPr lang="tr-TR" dirty="0"/>
              <a:t> </a:t>
            </a:r>
            <a:r>
              <a:rPr lang="tr-TR" dirty="0" smtClean="0"/>
              <a:t>uzunluğu</a:t>
            </a:r>
            <a:endParaRPr lang="tr-TR" dirty="0"/>
          </a:p>
          <a:p>
            <a:r>
              <a:rPr lang="tr-TR" dirty="0"/>
              <a:t>2.Sıradaki ilk element  </a:t>
            </a:r>
            <a:r>
              <a:rPr lang="tr-TR" dirty="0" err="1"/>
              <a:t>başlangiç</a:t>
            </a:r>
            <a:r>
              <a:rPr lang="tr-TR" dirty="0"/>
              <a:t> </a:t>
            </a:r>
            <a:r>
              <a:rPr lang="tr-TR" dirty="0" err="1"/>
              <a:t>sayıb</a:t>
            </a:r>
            <a:r>
              <a:rPr lang="tr-TR" dirty="0"/>
              <a:t> 4cü element </a:t>
            </a:r>
            <a:r>
              <a:rPr lang="tr-TR" dirty="0" err="1"/>
              <a:t>daxil</a:t>
            </a:r>
            <a:r>
              <a:rPr lang="tr-TR" dirty="0"/>
              <a:t> </a:t>
            </a:r>
            <a:r>
              <a:rPr lang="tr-TR" dirty="0" err="1"/>
              <a:t>olmaqla</a:t>
            </a:r>
            <a:r>
              <a:rPr lang="tr-TR" dirty="0"/>
              <a:t> ilk </a:t>
            </a:r>
            <a:r>
              <a:rPr lang="tr-TR" dirty="0" err="1"/>
              <a:t>araliği</a:t>
            </a:r>
            <a:r>
              <a:rPr lang="tr-TR" dirty="0"/>
              <a:t> </a:t>
            </a:r>
            <a:r>
              <a:rPr lang="tr-TR" dirty="0" err="1"/>
              <a:t>seçirik</a:t>
            </a:r>
            <a:r>
              <a:rPr lang="tr-TR" dirty="0"/>
              <a:t> </a:t>
            </a:r>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endParaRPr lang="en-US" dirty="0" smtClean="0"/>
          </a:p>
          <a:p>
            <a:endParaRPr lang="en-US" dirty="0"/>
          </a:p>
          <a:p>
            <a:endParaRPr lang="en-US" dirty="0" smtClean="0"/>
          </a:p>
          <a:p>
            <a:endParaRPr lang="en-US" dirty="0"/>
          </a:p>
          <a:p>
            <a:r>
              <a:rPr lang="tr-TR" dirty="0"/>
              <a:t>Başlangıç elementinin </a:t>
            </a:r>
            <a:r>
              <a:rPr lang="tr-TR" dirty="0" err="1"/>
              <a:t>şərti</a:t>
            </a:r>
            <a:r>
              <a:rPr lang="tr-TR" dirty="0"/>
              <a:t>            A[0] != </a:t>
            </a:r>
            <a:r>
              <a:rPr lang="tr-TR" dirty="0" err="1"/>
              <a:t>item</a:t>
            </a:r>
            <a:r>
              <a:rPr lang="tr-TR" dirty="0"/>
              <a:t>  &amp;&amp;  A[0]&lt;</a:t>
            </a:r>
            <a:r>
              <a:rPr lang="tr-TR" dirty="0" err="1"/>
              <a:t>item</a:t>
            </a:r>
            <a:endParaRPr lang="tr-TR" dirty="0"/>
          </a:p>
          <a:p>
            <a:r>
              <a:rPr lang="tr-TR" dirty="0"/>
              <a:t>3.Element </a:t>
            </a:r>
            <a:r>
              <a:rPr lang="tr-TR" dirty="0" err="1"/>
              <a:t>yuxardaki</a:t>
            </a:r>
            <a:r>
              <a:rPr lang="tr-TR" dirty="0"/>
              <a:t> </a:t>
            </a:r>
            <a:r>
              <a:rPr lang="tr-TR" dirty="0" err="1"/>
              <a:t>araliqda</a:t>
            </a:r>
            <a:r>
              <a:rPr lang="tr-TR" dirty="0"/>
              <a:t> </a:t>
            </a:r>
            <a:r>
              <a:rPr lang="tr-TR" dirty="0" err="1"/>
              <a:t>yerləşmədi</a:t>
            </a:r>
            <a:r>
              <a:rPr lang="tr-TR" dirty="0"/>
              <a:t> </a:t>
            </a:r>
            <a:r>
              <a:rPr lang="tr-TR" dirty="0" err="1"/>
              <a:t>deyə</a:t>
            </a:r>
            <a:r>
              <a:rPr lang="tr-TR" dirty="0"/>
              <a:t> bu </a:t>
            </a:r>
            <a:r>
              <a:rPr lang="tr-TR" dirty="0" err="1"/>
              <a:t>araliği</a:t>
            </a:r>
            <a:r>
              <a:rPr lang="tr-TR" dirty="0"/>
              <a:t>  </a:t>
            </a:r>
            <a:r>
              <a:rPr lang="tr-TR" dirty="0" err="1"/>
              <a:t>keçirik</a:t>
            </a:r>
            <a:r>
              <a:rPr lang="tr-TR" dirty="0"/>
              <a:t> , </a:t>
            </a:r>
            <a:r>
              <a:rPr lang="tr-TR" dirty="0" err="1"/>
              <a:t>bəyaqkı</a:t>
            </a:r>
            <a:r>
              <a:rPr lang="tr-TR" dirty="0"/>
              <a:t> </a:t>
            </a:r>
            <a:r>
              <a:rPr lang="tr-TR" dirty="0" err="1"/>
              <a:t>aralığin</a:t>
            </a:r>
            <a:r>
              <a:rPr lang="tr-TR" dirty="0"/>
              <a:t> son elementi ikinci </a:t>
            </a:r>
            <a:r>
              <a:rPr lang="tr-TR" dirty="0" err="1"/>
              <a:t>araliğimizin</a:t>
            </a:r>
            <a:r>
              <a:rPr lang="tr-TR" dirty="0"/>
              <a:t> </a:t>
            </a:r>
            <a:r>
              <a:rPr lang="tr-TR" dirty="0" err="1"/>
              <a:t>başlangiçı</a:t>
            </a:r>
            <a:r>
              <a:rPr lang="tr-TR" dirty="0"/>
              <a:t> </a:t>
            </a:r>
            <a:r>
              <a:rPr lang="tr-TR" dirty="0" err="1"/>
              <a:t>sayırıq</a:t>
            </a:r>
            <a:r>
              <a:rPr lang="tr-TR" dirty="0"/>
              <a:t> ,</a:t>
            </a:r>
            <a:r>
              <a:rPr lang="tr-TR" dirty="0" err="1"/>
              <a:t>nəticə</a:t>
            </a:r>
            <a:r>
              <a:rPr lang="tr-TR" dirty="0"/>
              <a:t> </a:t>
            </a:r>
            <a:r>
              <a:rPr lang="tr-TR" dirty="0" err="1"/>
              <a:t>olaraq</a:t>
            </a:r>
            <a:r>
              <a:rPr lang="tr-TR" dirty="0"/>
              <a:t> elementimiz bu </a:t>
            </a:r>
            <a:r>
              <a:rPr lang="tr-TR" dirty="0" err="1"/>
              <a:t>araliqdan</a:t>
            </a:r>
            <a:r>
              <a:rPr lang="tr-TR" dirty="0"/>
              <a:t> </a:t>
            </a:r>
            <a:r>
              <a:rPr lang="tr-TR" dirty="0" err="1"/>
              <a:t>böyük</a:t>
            </a:r>
            <a:r>
              <a:rPr lang="tr-TR" dirty="0"/>
              <a:t> olduğu üçün </a:t>
            </a:r>
            <a:r>
              <a:rPr lang="tr-TR" dirty="0" err="1"/>
              <a:t>keşirik</a:t>
            </a:r>
            <a:r>
              <a:rPr lang="tr-TR" dirty="0"/>
              <a:t> A[6] != </a:t>
            </a:r>
            <a:r>
              <a:rPr lang="tr-TR" dirty="0" err="1"/>
              <a:t>item</a:t>
            </a:r>
            <a:r>
              <a:rPr lang="tr-TR" dirty="0"/>
              <a:t> &amp;&amp;  A[0] &lt;</a:t>
            </a:r>
            <a:r>
              <a:rPr lang="tr-TR" dirty="0" err="1"/>
              <a:t>item</a:t>
            </a:r>
            <a:r>
              <a:rPr lang="tr-TR" dirty="0"/>
              <a:t> </a:t>
            </a:r>
            <a:r>
              <a:rPr lang="tr-TR" dirty="0" err="1"/>
              <a:t>şəriı</a:t>
            </a:r>
            <a:r>
              <a:rPr lang="tr-TR" dirty="0"/>
              <a:t> bir daha </a:t>
            </a:r>
            <a:r>
              <a:rPr lang="tr-TR" dirty="0" err="1"/>
              <a:t>pozulur</a:t>
            </a:r>
            <a:r>
              <a:rPr lang="tr-TR" dirty="0"/>
              <a:t> . </a:t>
            </a:r>
          </a:p>
          <a:p>
            <a:endParaRPr lang="en-US" dirty="0" smtClean="0"/>
          </a:p>
          <a:p>
            <a:endParaRPr lang="en-US" dirty="0"/>
          </a:p>
          <a:p>
            <a:endParaRPr lang="en-US" dirty="0" smtClean="0"/>
          </a:p>
          <a:p>
            <a:endParaRPr lang="en-US" dirty="0"/>
          </a:p>
          <a:p>
            <a:endParaRPr lang="en-US" dirty="0" smtClean="0"/>
          </a:p>
          <a:p>
            <a:endParaRPr lang="tr-TR" dirty="0"/>
          </a:p>
          <a:p>
            <a:endParaRPr lang="tr-TR" dirty="0"/>
          </a:p>
        </p:txBody>
      </p:sp>
      <p:sp>
        <p:nvSpPr>
          <p:cNvPr id="35"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36" name="Nesne 35"/>
          <p:cNvGraphicFramePr>
            <a:graphicFrameLocks/>
          </p:cNvGraphicFramePr>
          <p:nvPr>
            <p:extLst>
              <p:ext uri="{D42A27DB-BD31-4B8C-83A1-F6EECF244321}">
                <p14:modId xmlns:p14="http://schemas.microsoft.com/office/powerpoint/2010/main" val="4254389984"/>
              </p:ext>
            </p:extLst>
          </p:nvPr>
        </p:nvGraphicFramePr>
        <p:xfrm>
          <a:off x="3390021" y="2375665"/>
          <a:ext cx="4991100" cy="868363"/>
        </p:xfrm>
        <a:graphic>
          <a:graphicData uri="http://schemas.openxmlformats.org/presentationml/2006/ole">
            <mc:AlternateContent xmlns:mc="http://schemas.openxmlformats.org/markup-compatibility/2006">
              <mc:Choice xmlns:v="urn:schemas-microsoft-com:vml" Requires="v">
                <p:oleObj spid="_x0000_s6168" name="Resim" r:id="rId3" imgW="0" imgH="0" progId="StaticMetafile">
                  <p:embed/>
                </p:oleObj>
              </mc:Choice>
              <mc:Fallback>
                <p:oleObj name="Resim" r:id="rId3" imgW="0" imgH="0" progId="StaticMetafile">
                  <p:embed/>
                  <p:pic>
                    <p:nvPicPr>
                      <p:cNvPr id="0" name="rectole000000000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0021" y="2375665"/>
                        <a:ext cx="4991100" cy="8683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 name="Rectangle 19"/>
          <p:cNvSpPr>
            <a:spLocks noChangeArrowheads="1"/>
          </p:cNvSpPr>
          <p:nvPr/>
        </p:nvSpPr>
        <p:spPr bwMode="auto">
          <a:xfrm>
            <a:off x="3468344" y="3242401"/>
            <a:ext cx="120581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tr-TR"/>
          </a:p>
        </p:txBody>
      </p:sp>
      <p:graphicFrame>
        <p:nvGraphicFramePr>
          <p:cNvPr id="47" name="Nesne 46"/>
          <p:cNvGraphicFramePr>
            <a:graphicFrameLocks/>
          </p:cNvGraphicFramePr>
          <p:nvPr>
            <p:extLst>
              <p:ext uri="{D42A27DB-BD31-4B8C-83A1-F6EECF244321}">
                <p14:modId xmlns:p14="http://schemas.microsoft.com/office/powerpoint/2010/main" val="1702029897"/>
              </p:ext>
            </p:extLst>
          </p:nvPr>
        </p:nvGraphicFramePr>
        <p:xfrm>
          <a:off x="3390021" y="3242401"/>
          <a:ext cx="5003806" cy="1417638"/>
        </p:xfrm>
        <a:graphic>
          <a:graphicData uri="http://schemas.openxmlformats.org/presentationml/2006/ole">
            <mc:AlternateContent xmlns:mc="http://schemas.openxmlformats.org/markup-compatibility/2006">
              <mc:Choice xmlns:v="urn:schemas-microsoft-com:vml" Requires="v">
                <p:oleObj spid="_x0000_s6169" name="Resim" r:id="rId5" imgW="0" imgH="0" progId="StaticMetafile">
                  <p:embed/>
                </p:oleObj>
              </mc:Choice>
              <mc:Fallback>
                <p:oleObj name="Resim" r:id="rId5" imgW="0" imgH="0" progId="StaticMetafile">
                  <p:embed/>
                  <p:pic>
                    <p:nvPicPr>
                      <p:cNvPr id="0" name="rectole000000000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90021" y="3242401"/>
                        <a:ext cx="5003806" cy="1417638"/>
                      </a:xfrm>
                      <a:prstGeom prst="rect">
                        <a:avLst/>
                      </a:prstGeom>
                      <a:solidFill>
                        <a:srgbClr val="FFFFFF"/>
                      </a:solidFill>
                      <a:ln>
                        <a:noFill/>
                      </a:ln>
                    </p:spPr>
                  </p:pic>
                </p:oleObj>
              </mc:Fallback>
            </mc:AlternateContent>
          </a:graphicData>
        </a:graphic>
      </p:graphicFrame>
    </p:spTree>
    <p:extLst>
      <p:ext uri="{BB962C8B-B14F-4D97-AF65-F5344CB8AC3E}">
        <p14:creationId xmlns:p14="http://schemas.microsoft.com/office/powerpoint/2010/main" val="652120800"/>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9325596"/>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0"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0"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35"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46" name="Rectangle 19"/>
          <p:cNvSpPr>
            <a:spLocks noChangeArrowheads="1"/>
          </p:cNvSpPr>
          <p:nvPr/>
        </p:nvSpPr>
        <p:spPr bwMode="auto">
          <a:xfrm>
            <a:off x="3468344" y="3242401"/>
            <a:ext cx="120581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tr-TR"/>
          </a:p>
        </p:txBody>
      </p:sp>
      <p:sp>
        <p:nvSpPr>
          <p:cNvPr id="2" name="Metin kutusu 1"/>
          <p:cNvSpPr txBox="1"/>
          <p:nvPr/>
        </p:nvSpPr>
        <p:spPr>
          <a:xfrm>
            <a:off x="4561840" y="762000"/>
            <a:ext cx="10133874" cy="5831840"/>
          </a:xfrm>
          <a:prstGeom prst="rect">
            <a:avLst/>
          </a:prstGeom>
          <a:noFill/>
        </p:spPr>
        <p:txBody>
          <a:bodyPr wrap="square" rtlCol="0">
            <a:spAutoFit/>
          </a:bodyPr>
          <a:lstStyle/>
          <a:p>
            <a:endParaRPr lang="tr-TR" dirty="0"/>
          </a:p>
        </p:txBody>
      </p:sp>
      <p:sp>
        <p:nvSpPr>
          <p:cNvPr id="5" name="Rectangle 2"/>
          <p:cNvSpPr>
            <a:spLocks noChangeArrowheads="1"/>
          </p:cNvSpPr>
          <p:nvPr/>
        </p:nvSpPr>
        <p:spPr bwMode="auto">
          <a:xfrm>
            <a:off x="3566160" y="2641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7" name="Nesne 6"/>
          <p:cNvGraphicFramePr>
            <a:graphicFrameLocks/>
          </p:cNvGraphicFramePr>
          <p:nvPr>
            <p:extLst>
              <p:ext uri="{D42A27DB-BD31-4B8C-83A1-F6EECF244321}">
                <p14:modId xmlns:p14="http://schemas.microsoft.com/office/powerpoint/2010/main" val="3795405868"/>
              </p:ext>
            </p:extLst>
          </p:nvPr>
        </p:nvGraphicFramePr>
        <p:xfrm>
          <a:off x="3566160" y="264160"/>
          <a:ext cx="4953000" cy="1477963"/>
        </p:xfrm>
        <a:graphic>
          <a:graphicData uri="http://schemas.openxmlformats.org/presentationml/2006/ole">
            <mc:AlternateContent xmlns:mc="http://schemas.openxmlformats.org/markup-compatibility/2006">
              <mc:Choice xmlns:v="urn:schemas-microsoft-com:vml" Requires="v">
                <p:oleObj spid="_x0000_s7185" name="Resim" r:id="rId3" imgW="0" imgH="0" progId="StaticMetafile">
                  <p:embed/>
                </p:oleObj>
              </mc:Choice>
              <mc:Fallback>
                <p:oleObj name="Resim" r:id="rId3" imgW="0" imgH="0" progId="StaticMetafile">
                  <p:embed/>
                  <p:pic>
                    <p:nvPicPr>
                      <p:cNvPr id="0" name="rectole000000000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6160" y="264160"/>
                        <a:ext cx="4953000" cy="1477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Metin kutusu 7"/>
          <p:cNvSpPr txBox="1"/>
          <p:nvPr/>
        </p:nvSpPr>
        <p:spPr>
          <a:xfrm>
            <a:off x="968772" y="1879600"/>
            <a:ext cx="10254456" cy="3139321"/>
          </a:xfrm>
          <a:prstGeom prst="rect">
            <a:avLst/>
          </a:prstGeom>
          <a:noFill/>
        </p:spPr>
        <p:txBody>
          <a:bodyPr wrap="square" rtlCol="0">
            <a:spAutoFit/>
          </a:bodyPr>
          <a:lstStyle/>
          <a:p>
            <a:r>
              <a:rPr lang="tr-TR" dirty="0" smtClean="0"/>
              <a:t>4.Yenə </a:t>
            </a:r>
            <a:r>
              <a:rPr lang="tr-TR" dirty="0" err="1" smtClean="0"/>
              <a:t>alinmadi,Yuxardaki</a:t>
            </a:r>
            <a:r>
              <a:rPr lang="tr-TR" dirty="0" smtClean="0"/>
              <a:t> </a:t>
            </a:r>
            <a:r>
              <a:rPr lang="tr-TR" dirty="0" err="1" smtClean="0"/>
              <a:t>prossesləri</a:t>
            </a:r>
            <a:r>
              <a:rPr lang="tr-TR" dirty="0" smtClean="0"/>
              <a:t> bir daha </a:t>
            </a:r>
            <a:r>
              <a:rPr lang="tr-TR" dirty="0" err="1" smtClean="0"/>
              <a:t>təkrarlıyırıq</a:t>
            </a:r>
            <a:r>
              <a:rPr lang="tr-TR" dirty="0" smtClean="0"/>
              <a:t> </a:t>
            </a:r>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tr-TR" dirty="0"/>
              <a:t>5.Ən sonda </a:t>
            </a:r>
            <a:r>
              <a:rPr lang="tr-TR" dirty="0" err="1"/>
              <a:t>yerləşdiyi</a:t>
            </a:r>
            <a:r>
              <a:rPr lang="tr-TR" dirty="0"/>
              <a:t> </a:t>
            </a:r>
            <a:r>
              <a:rPr lang="tr-TR" dirty="0" err="1"/>
              <a:t>araliğı</a:t>
            </a:r>
            <a:r>
              <a:rPr lang="tr-TR" dirty="0"/>
              <a:t> </a:t>
            </a:r>
            <a:r>
              <a:rPr lang="tr-TR" dirty="0" err="1"/>
              <a:t>tapirıq</a:t>
            </a:r>
            <a:r>
              <a:rPr lang="tr-TR" dirty="0"/>
              <a:t> , </a:t>
            </a:r>
            <a:r>
              <a:rPr lang="tr-TR" dirty="0" err="1"/>
              <a:t>əvvəlcə</a:t>
            </a:r>
            <a:r>
              <a:rPr lang="tr-TR" dirty="0"/>
              <a:t> </a:t>
            </a:r>
            <a:r>
              <a:rPr lang="tr-TR" dirty="0" err="1"/>
              <a:t>başlangic</a:t>
            </a:r>
            <a:r>
              <a:rPr lang="tr-TR" dirty="0"/>
              <a:t> olan 55 == 77 </a:t>
            </a:r>
            <a:r>
              <a:rPr lang="tr-TR" dirty="0" err="1"/>
              <a:t>deyə</a:t>
            </a:r>
            <a:r>
              <a:rPr lang="tr-TR" dirty="0"/>
              <a:t> </a:t>
            </a:r>
            <a:r>
              <a:rPr lang="tr-TR" dirty="0" err="1"/>
              <a:t>yoxluyuruq</a:t>
            </a:r>
            <a:r>
              <a:rPr lang="tr-TR" dirty="0"/>
              <a:t> </a:t>
            </a:r>
            <a:r>
              <a:rPr lang="tr-TR" dirty="0" err="1"/>
              <a:t>əgər</a:t>
            </a:r>
            <a:r>
              <a:rPr lang="tr-TR" dirty="0"/>
              <a:t> </a:t>
            </a:r>
            <a:r>
              <a:rPr lang="tr-TR" dirty="0" err="1"/>
              <a:t>şərt</a:t>
            </a:r>
            <a:r>
              <a:rPr lang="tr-TR" dirty="0"/>
              <a:t> </a:t>
            </a:r>
            <a:r>
              <a:rPr lang="tr-TR" dirty="0" err="1"/>
              <a:t>ödənmirsə</a:t>
            </a:r>
            <a:r>
              <a:rPr lang="tr-TR" dirty="0"/>
              <a:t> </a:t>
            </a:r>
            <a:r>
              <a:rPr lang="tr-TR" dirty="0" err="1"/>
              <a:t>novbəti</a:t>
            </a:r>
            <a:r>
              <a:rPr lang="tr-TR" dirty="0"/>
              <a:t> </a:t>
            </a:r>
            <a:r>
              <a:rPr lang="tr-TR" dirty="0" err="1"/>
              <a:t>indexdəki</a:t>
            </a:r>
            <a:r>
              <a:rPr lang="tr-TR" dirty="0"/>
              <a:t> </a:t>
            </a:r>
            <a:r>
              <a:rPr lang="tr-TR" dirty="0" err="1"/>
              <a:t>elementə</a:t>
            </a:r>
            <a:r>
              <a:rPr lang="tr-TR" dirty="0"/>
              <a:t> </a:t>
            </a:r>
            <a:r>
              <a:rPr lang="tr-TR" dirty="0" err="1"/>
              <a:t>baxiriq</a:t>
            </a:r>
            <a:r>
              <a:rPr lang="tr-TR" dirty="0"/>
              <a:t> ,</a:t>
            </a:r>
            <a:r>
              <a:rPr lang="tr-TR" dirty="0" err="1"/>
              <a:t>və</a:t>
            </a:r>
            <a:r>
              <a:rPr lang="tr-TR" dirty="0"/>
              <a:t> </a:t>
            </a:r>
            <a:r>
              <a:rPr lang="tr-TR" dirty="0" err="1"/>
              <a:t>nəhayət</a:t>
            </a:r>
            <a:r>
              <a:rPr lang="tr-TR" dirty="0"/>
              <a:t> </a:t>
            </a:r>
            <a:r>
              <a:rPr lang="tr-TR" dirty="0" err="1"/>
              <a:t>tapırıq</a:t>
            </a:r>
            <a:endParaRPr lang="tr-TR" dirty="0"/>
          </a:p>
          <a:p>
            <a:endParaRPr lang="tr-TR" dirty="0"/>
          </a:p>
        </p:txBody>
      </p:sp>
      <p:sp>
        <p:nvSpPr>
          <p:cNvPr id="32" name="Rectangle 8"/>
          <p:cNvSpPr>
            <a:spLocks noChangeArrowheads="1"/>
          </p:cNvSpPr>
          <p:nvPr/>
        </p:nvSpPr>
        <p:spPr bwMode="auto">
          <a:xfrm>
            <a:off x="3566160" y="243019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33" name="Nesne 32"/>
          <p:cNvGraphicFramePr>
            <a:graphicFrameLocks/>
          </p:cNvGraphicFramePr>
          <p:nvPr>
            <p:extLst>
              <p:ext uri="{D42A27DB-BD31-4B8C-83A1-F6EECF244321}">
                <p14:modId xmlns:p14="http://schemas.microsoft.com/office/powerpoint/2010/main" val="836209086"/>
              </p:ext>
            </p:extLst>
          </p:nvPr>
        </p:nvGraphicFramePr>
        <p:xfrm>
          <a:off x="3566160" y="2430194"/>
          <a:ext cx="5006975" cy="1477963"/>
        </p:xfrm>
        <a:graphic>
          <a:graphicData uri="http://schemas.openxmlformats.org/presentationml/2006/ole">
            <mc:AlternateContent xmlns:mc="http://schemas.openxmlformats.org/markup-compatibility/2006">
              <mc:Choice xmlns:v="urn:schemas-microsoft-com:vml" Requires="v">
                <p:oleObj spid="_x0000_s7186" name="Resim" r:id="rId5" imgW="5009524" imgH="1476190" progId="StaticDib">
                  <p:embed/>
                </p:oleObj>
              </mc:Choice>
              <mc:Fallback>
                <p:oleObj name="Resim" r:id="rId5" imgW="5009524" imgH="1476190" progId="StaticDib">
                  <p:embed/>
                  <p:pic>
                    <p:nvPicPr>
                      <p:cNvPr id="0" name="rectole000000000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66160" y="2430194"/>
                        <a:ext cx="5006975" cy="14779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 name="Rectangle 10"/>
          <p:cNvSpPr>
            <a:spLocks noChangeArrowheads="1"/>
          </p:cNvSpPr>
          <p:nvPr/>
        </p:nvSpPr>
        <p:spPr bwMode="auto">
          <a:xfrm>
            <a:off x="3566160" y="49069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graphicFrame>
        <p:nvGraphicFramePr>
          <p:cNvPr id="37" name="Nesne 36"/>
          <p:cNvGraphicFramePr>
            <a:graphicFrameLocks/>
          </p:cNvGraphicFramePr>
          <p:nvPr>
            <p:extLst>
              <p:ext uri="{D42A27DB-BD31-4B8C-83A1-F6EECF244321}">
                <p14:modId xmlns:p14="http://schemas.microsoft.com/office/powerpoint/2010/main" val="3168903505"/>
              </p:ext>
            </p:extLst>
          </p:nvPr>
        </p:nvGraphicFramePr>
        <p:xfrm>
          <a:off x="3566160" y="4906963"/>
          <a:ext cx="5029200" cy="1951038"/>
        </p:xfrm>
        <a:graphic>
          <a:graphicData uri="http://schemas.openxmlformats.org/presentationml/2006/ole">
            <mc:AlternateContent xmlns:mc="http://schemas.openxmlformats.org/markup-compatibility/2006">
              <mc:Choice xmlns:v="urn:schemas-microsoft-com:vml" Requires="v">
                <p:oleObj spid="_x0000_s7187" name="Resim" r:id="rId7" imgW="5028571" imgH="1952381" progId="StaticDib">
                  <p:embed/>
                </p:oleObj>
              </mc:Choice>
              <mc:Fallback>
                <p:oleObj name="Resim" r:id="rId7" imgW="5028571" imgH="1952381" progId="StaticDib">
                  <p:embed/>
                  <p:pic>
                    <p:nvPicPr>
                      <p:cNvPr id="0" name="rectole000000000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6160" y="4906963"/>
                        <a:ext cx="5029200" cy="1951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23774027"/>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B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7843850"/>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0"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0"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11741944"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35" name="Rectangle 1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46" name="Rectangle 19"/>
          <p:cNvSpPr>
            <a:spLocks noChangeArrowheads="1"/>
          </p:cNvSpPr>
          <p:nvPr/>
        </p:nvSpPr>
        <p:spPr bwMode="auto">
          <a:xfrm>
            <a:off x="3468344" y="3242401"/>
            <a:ext cx="120581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tr-TR"/>
          </a:p>
        </p:txBody>
      </p:sp>
      <p:sp>
        <p:nvSpPr>
          <p:cNvPr id="2" name="Metin kutusu 1"/>
          <p:cNvSpPr txBox="1"/>
          <p:nvPr/>
        </p:nvSpPr>
        <p:spPr>
          <a:xfrm>
            <a:off x="4561840" y="762000"/>
            <a:ext cx="10133874" cy="5831840"/>
          </a:xfrm>
          <a:prstGeom prst="rect">
            <a:avLst/>
          </a:prstGeom>
          <a:noFill/>
        </p:spPr>
        <p:txBody>
          <a:bodyPr wrap="square" rtlCol="0">
            <a:spAutoFit/>
          </a:bodyPr>
          <a:lstStyle/>
          <a:p>
            <a:endParaRPr lang="tr-TR" dirty="0"/>
          </a:p>
        </p:txBody>
      </p:sp>
      <p:sp>
        <p:nvSpPr>
          <p:cNvPr id="5" name="Rectangle 2"/>
          <p:cNvSpPr>
            <a:spLocks noChangeArrowheads="1"/>
          </p:cNvSpPr>
          <p:nvPr/>
        </p:nvSpPr>
        <p:spPr bwMode="auto">
          <a:xfrm>
            <a:off x="3566160" y="2641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32" name="Rectangle 8"/>
          <p:cNvSpPr>
            <a:spLocks noChangeArrowheads="1"/>
          </p:cNvSpPr>
          <p:nvPr/>
        </p:nvSpPr>
        <p:spPr bwMode="auto">
          <a:xfrm>
            <a:off x="3566160" y="243019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34" name="Rectangle 10"/>
          <p:cNvSpPr>
            <a:spLocks noChangeArrowheads="1"/>
          </p:cNvSpPr>
          <p:nvPr/>
        </p:nvSpPr>
        <p:spPr bwMode="auto">
          <a:xfrm>
            <a:off x="3566160" y="49069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tr-TR"/>
          </a:p>
        </p:txBody>
      </p:sp>
      <p:sp>
        <p:nvSpPr>
          <p:cNvPr id="6" name="Metin kutusu 5"/>
          <p:cNvSpPr txBox="1"/>
          <p:nvPr/>
        </p:nvSpPr>
        <p:spPr>
          <a:xfrm>
            <a:off x="904240" y="447040"/>
            <a:ext cx="10225314" cy="4339650"/>
          </a:xfrm>
          <a:prstGeom prst="rect">
            <a:avLst/>
          </a:prstGeom>
          <a:noFill/>
        </p:spPr>
        <p:txBody>
          <a:bodyPr wrap="square" rtlCol="0">
            <a:spAutoFit/>
          </a:bodyPr>
          <a:lstStyle/>
          <a:p>
            <a:r>
              <a:rPr lang="tr-TR" sz="2400" b="1" dirty="0"/>
              <a:t> </a:t>
            </a:r>
            <a:r>
              <a:rPr lang="tr-TR" sz="2400" b="1" dirty="0" smtClean="0"/>
              <a:t>Time </a:t>
            </a:r>
            <a:r>
              <a:rPr lang="tr-TR" sz="2400" b="1" dirty="0" err="1"/>
              <a:t>Complexity</a:t>
            </a:r>
            <a:r>
              <a:rPr lang="tr-TR" sz="2400" b="1" dirty="0"/>
              <a:t> </a:t>
            </a:r>
            <a:r>
              <a:rPr lang="en-US" sz="2400" b="1" dirty="0" smtClean="0"/>
              <a:t>:</a:t>
            </a:r>
          </a:p>
          <a:p>
            <a:endParaRPr lang="tr-TR" sz="2400" b="1" dirty="0"/>
          </a:p>
          <a:p>
            <a:r>
              <a:rPr lang="tr-TR" dirty="0"/>
              <a:t>Best </a:t>
            </a:r>
            <a:r>
              <a:rPr lang="tr-TR" dirty="0" err="1"/>
              <a:t>case</a:t>
            </a:r>
            <a:r>
              <a:rPr lang="tr-TR" dirty="0"/>
              <a:t> (</a:t>
            </a:r>
            <a:r>
              <a:rPr lang="tr-TR" dirty="0" err="1"/>
              <a:t>Ən</a:t>
            </a:r>
            <a:r>
              <a:rPr lang="tr-TR" dirty="0"/>
              <a:t> </a:t>
            </a:r>
            <a:r>
              <a:rPr lang="tr-TR" dirty="0" err="1"/>
              <a:t>yaxşi</a:t>
            </a:r>
            <a:r>
              <a:rPr lang="tr-TR" dirty="0"/>
              <a:t> </a:t>
            </a:r>
            <a:r>
              <a:rPr lang="tr-TR" dirty="0" err="1"/>
              <a:t>halda</a:t>
            </a:r>
            <a:r>
              <a:rPr lang="tr-TR" dirty="0"/>
              <a:t>)    O(1)</a:t>
            </a:r>
          </a:p>
          <a:p>
            <a:r>
              <a:rPr lang="tr-TR" dirty="0" err="1"/>
              <a:t>Average</a:t>
            </a:r>
            <a:r>
              <a:rPr lang="tr-TR" dirty="0"/>
              <a:t>  (Orta)                        O(√ n)</a:t>
            </a:r>
          </a:p>
          <a:p>
            <a:r>
              <a:rPr lang="tr-TR" dirty="0" err="1"/>
              <a:t>Worst</a:t>
            </a:r>
            <a:r>
              <a:rPr lang="tr-TR" dirty="0"/>
              <a:t> </a:t>
            </a:r>
            <a:r>
              <a:rPr lang="tr-TR" dirty="0" err="1"/>
              <a:t>case</a:t>
            </a:r>
            <a:r>
              <a:rPr lang="tr-TR" dirty="0"/>
              <a:t> (</a:t>
            </a:r>
            <a:r>
              <a:rPr lang="tr-TR" dirty="0" err="1"/>
              <a:t>Ən</a:t>
            </a:r>
            <a:r>
              <a:rPr lang="tr-TR" dirty="0"/>
              <a:t> pis </a:t>
            </a:r>
            <a:r>
              <a:rPr lang="tr-TR" dirty="0" err="1"/>
              <a:t>halda</a:t>
            </a:r>
            <a:r>
              <a:rPr lang="tr-TR" dirty="0"/>
              <a:t>)     O(√ n</a:t>
            </a:r>
            <a:r>
              <a:rPr lang="tr-TR" dirty="0" smtClean="0"/>
              <a:t>)</a:t>
            </a:r>
            <a:endParaRPr lang="en-US" dirty="0" smtClean="0"/>
          </a:p>
          <a:p>
            <a:endParaRPr lang="en-US" dirty="0"/>
          </a:p>
          <a:p>
            <a:endParaRPr lang="en-US" dirty="0" smtClean="0"/>
          </a:p>
          <a:p>
            <a:r>
              <a:rPr lang="tr-TR" dirty="0"/>
              <a:t> </a:t>
            </a:r>
          </a:p>
          <a:p>
            <a:r>
              <a:rPr lang="en-US" sz="2400" b="1" dirty="0" smtClean="0"/>
              <a:t> </a:t>
            </a:r>
            <a:r>
              <a:rPr lang="tr-TR" sz="2400" b="1" dirty="0" err="1" smtClean="0"/>
              <a:t>Üstünlüyü</a:t>
            </a:r>
            <a:r>
              <a:rPr lang="en-US" sz="2400" b="1" dirty="0" smtClean="0"/>
              <a:t> :</a:t>
            </a:r>
          </a:p>
          <a:p>
            <a:endParaRPr lang="tr-TR" sz="2400" b="1" dirty="0"/>
          </a:p>
          <a:p>
            <a:r>
              <a:rPr lang="tr-TR" dirty="0"/>
              <a:t>1.Axtarış </a:t>
            </a:r>
            <a:r>
              <a:rPr lang="tr-TR" dirty="0" err="1"/>
              <a:t>matorları</a:t>
            </a:r>
            <a:r>
              <a:rPr lang="tr-TR" dirty="0"/>
              <a:t> açar sözü </a:t>
            </a:r>
            <a:r>
              <a:rPr lang="tr-TR" dirty="0" err="1"/>
              <a:t>milyardlarca</a:t>
            </a:r>
            <a:r>
              <a:rPr lang="tr-TR" dirty="0"/>
              <a:t> data </a:t>
            </a:r>
            <a:r>
              <a:rPr lang="tr-TR" dirty="0" err="1"/>
              <a:t>arasindan</a:t>
            </a:r>
            <a:r>
              <a:rPr lang="tr-TR" dirty="0"/>
              <a:t> bu </a:t>
            </a:r>
            <a:r>
              <a:rPr lang="tr-TR" dirty="0" err="1"/>
              <a:t>methoda</a:t>
            </a:r>
            <a:r>
              <a:rPr lang="tr-TR" dirty="0"/>
              <a:t> </a:t>
            </a:r>
            <a:r>
              <a:rPr lang="tr-TR" dirty="0" err="1"/>
              <a:t>görə</a:t>
            </a:r>
            <a:r>
              <a:rPr lang="tr-TR" dirty="0"/>
              <a:t> tapir </a:t>
            </a:r>
            <a:r>
              <a:rPr lang="tr-TR" dirty="0" err="1"/>
              <a:t>siyahılıyır</a:t>
            </a:r>
            <a:endParaRPr lang="tr-TR" dirty="0"/>
          </a:p>
          <a:p>
            <a:r>
              <a:rPr lang="tr-TR" dirty="0"/>
              <a:t>2.Video </a:t>
            </a:r>
            <a:r>
              <a:rPr lang="tr-TR" dirty="0" err="1"/>
              <a:t>oyunlarinda</a:t>
            </a:r>
            <a:r>
              <a:rPr lang="tr-TR" dirty="0"/>
              <a:t> , oyuncunun </a:t>
            </a:r>
            <a:r>
              <a:rPr lang="tr-TR" dirty="0" err="1"/>
              <a:t>hərəkətini</a:t>
            </a:r>
            <a:r>
              <a:rPr lang="tr-TR" dirty="0"/>
              <a:t> </a:t>
            </a:r>
            <a:r>
              <a:rPr lang="tr-TR" dirty="0" err="1"/>
              <a:t>optimizə</a:t>
            </a:r>
            <a:r>
              <a:rPr lang="tr-TR" dirty="0"/>
              <a:t> </a:t>
            </a:r>
            <a:r>
              <a:rPr lang="tr-TR" dirty="0" err="1"/>
              <a:t>etmək</a:t>
            </a:r>
            <a:r>
              <a:rPr lang="tr-TR" dirty="0"/>
              <a:t> üçün </a:t>
            </a:r>
            <a:r>
              <a:rPr lang="tr-TR" dirty="0" err="1"/>
              <a:t>işlədilir</a:t>
            </a:r>
            <a:endParaRPr lang="tr-TR" dirty="0"/>
          </a:p>
          <a:p>
            <a:r>
              <a:rPr lang="tr-TR" dirty="0"/>
              <a:t>3.Böyük datalarla </a:t>
            </a:r>
            <a:r>
              <a:rPr lang="tr-TR" dirty="0" err="1"/>
              <a:t>işləmək</a:t>
            </a:r>
            <a:r>
              <a:rPr lang="tr-TR" dirty="0"/>
              <a:t> üçün idealdir , </a:t>
            </a:r>
            <a:r>
              <a:rPr lang="tr-TR" dirty="0" err="1"/>
              <a:t>həm</a:t>
            </a:r>
            <a:r>
              <a:rPr lang="tr-TR" dirty="0"/>
              <a:t> </a:t>
            </a:r>
            <a:r>
              <a:rPr lang="tr-TR" dirty="0" err="1"/>
              <a:t>sürət</a:t>
            </a:r>
            <a:r>
              <a:rPr lang="tr-TR" dirty="0"/>
              <a:t> </a:t>
            </a:r>
            <a:r>
              <a:rPr lang="tr-TR" dirty="0" err="1"/>
              <a:t>həmdə</a:t>
            </a:r>
            <a:r>
              <a:rPr lang="tr-TR" dirty="0"/>
              <a:t> </a:t>
            </a:r>
            <a:r>
              <a:rPr lang="tr-TR" dirty="0" err="1"/>
              <a:t>yaddaş</a:t>
            </a:r>
            <a:r>
              <a:rPr lang="tr-TR" dirty="0"/>
              <a:t> </a:t>
            </a:r>
            <a:r>
              <a:rPr lang="tr-TR" dirty="0" err="1"/>
              <a:t>performansi</a:t>
            </a:r>
            <a:r>
              <a:rPr lang="tr-TR" dirty="0"/>
              <a:t> üstündür</a:t>
            </a:r>
          </a:p>
          <a:p>
            <a:endParaRPr lang="tr-TR" dirty="0"/>
          </a:p>
        </p:txBody>
      </p:sp>
    </p:spTree>
    <p:extLst>
      <p:ext uri="{BB962C8B-B14F-4D97-AF65-F5344CB8AC3E}">
        <p14:creationId xmlns:p14="http://schemas.microsoft.com/office/powerpoint/2010/main" val="1910967616"/>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pic>
        <p:nvPicPr>
          <p:cNvPr id="2" name="Resim 1"/>
          <p:cNvPicPr>
            <a:picLocks noChangeAspect="1"/>
          </p:cNvPicPr>
          <p:nvPr/>
        </p:nvPicPr>
        <p:blipFill>
          <a:blip r:embed="rId2"/>
          <a:stretch>
            <a:fillRect/>
          </a:stretch>
        </p:blipFill>
        <p:spPr>
          <a:xfrm>
            <a:off x="0" y="71120"/>
            <a:ext cx="8129604" cy="6715760"/>
          </a:xfrm>
          <a:prstGeom prst="rect">
            <a:avLst/>
          </a:prstGeom>
        </p:spPr>
      </p:pic>
    </p:spTree>
    <p:extLst>
      <p:ext uri="{BB962C8B-B14F-4D97-AF65-F5344CB8AC3E}">
        <p14:creationId xmlns:p14="http://schemas.microsoft.com/office/powerpoint/2010/main" val="2405368097"/>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0"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0"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0"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sp>
        <p:nvSpPr>
          <p:cNvPr id="2" name="Metin kutusu 1"/>
          <p:cNvSpPr txBox="1"/>
          <p:nvPr/>
        </p:nvSpPr>
        <p:spPr>
          <a:xfrm>
            <a:off x="568960" y="487680"/>
            <a:ext cx="10560594" cy="5909310"/>
          </a:xfrm>
          <a:prstGeom prst="rect">
            <a:avLst/>
          </a:prstGeom>
          <a:noFill/>
        </p:spPr>
        <p:txBody>
          <a:bodyPr wrap="square" rtlCol="0">
            <a:spAutoFit/>
          </a:bodyPr>
          <a:lstStyle/>
          <a:p>
            <a:endParaRPr lang="en-US" dirty="0" smtClean="0"/>
          </a:p>
          <a:p>
            <a:r>
              <a:rPr lang="az-Latn-AZ" dirty="0" smtClean="0"/>
              <a:t>Fibonacci </a:t>
            </a:r>
            <a:r>
              <a:rPr lang="az-Latn-AZ" dirty="0"/>
              <a:t>axtarışı çeşidlənmiş massivdə elementi axtarmaq üçün istifadə edilən alqoritmdir. Bu, ikili axtarışa bənzəyir, lakin yoxlanılacaq mövqeləri müəyyən etmək üçün Fibonacci ardıcıllığından istifadə edir.</a:t>
            </a:r>
            <a:br>
              <a:rPr lang="az-Latn-AZ" dirty="0"/>
            </a:br>
            <a:r>
              <a:rPr lang="az-Latn-AZ" b="1" dirty="0"/>
              <a:t>Binary Search ilə oxşarlıqlar:</a:t>
            </a:r>
            <a:endParaRPr lang="tr-TR" dirty="0"/>
          </a:p>
          <a:p>
            <a:pPr fontAlgn="base"/>
            <a:r>
              <a:rPr lang="az-Latn-AZ" dirty="0"/>
              <a:t>1.Çeşidlənmiş massivlər üçün işləyir</a:t>
            </a:r>
            <a:endParaRPr lang="tr-TR" dirty="0"/>
          </a:p>
          <a:p>
            <a:pPr fontAlgn="base"/>
            <a:r>
              <a:rPr lang="az-Latn-AZ" dirty="0"/>
              <a:t>2.Böl və fəth et alqoritmi prinsipi ilə işləyir.</a:t>
            </a:r>
            <a:endParaRPr lang="tr-TR" dirty="0"/>
          </a:p>
          <a:p>
            <a:r>
              <a:rPr lang="az-Latn-AZ" dirty="0"/>
              <a:t>3.Big O notation – log(n)-dir.</a:t>
            </a:r>
            <a:endParaRPr lang="tr-TR" dirty="0"/>
          </a:p>
          <a:p>
            <a:r>
              <a:rPr lang="az-Latn-AZ" dirty="0"/>
              <a:t> </a:t>
            </a:r>
            <a:endParaRPr lang="tr-TR" dirty="0"/>
          </a:p>
          <a:p>
            <a:pPr fontAlgn="base"/>
            <a:r>
              <a:rPr lang="az-Latn-AZ" b="1" dirty="0"/>
              <a:t>İkili axtarışla fərqlər</a:t>
            </a:r>
            <a:r>
              <a:rPr lang="az-Latn-AZ" dirty="0"/>
              <a:t> : </a:t>
            </a:r>
            <a:endParaRPr lang="tr-TR" dirty="0"/>
          </a:p>
          <a:p>
            <a:pPr fontAlgn="base"/>
            <a:r>
              <a:rPr lang="az-Latn-AZ" dirty="0"/>
              <a:t>1.Fibonacci search verilmiş massivi qeyri-bərabər hissələrə bölür</a:t>
            </a:r>
            <a:endParaRPr lang="tr-TR" dirty="0"/>
          </a:p>
          <a:p>
            <a:pPr fontAlgn="base"/>
            <a:r>
              <a:rPr lang="az-Latn-AZ" dirty="0"/>
              <a:t>2.Binary search diapazonu bölmək üçün bölmə operatorundan istifadə edir. Fibonacci seach bölmə istifadə etmir, lakin + və - istifadə edir.</a:t>
            </a:r>
            <a:endParaRPr lang="tr-TR" dirty="0"/>
          </a:p>
          <a:p>
            <a:pPr fontAlgn="base"/>
            <a:r>
              <a:rPr lang="az-Latn-AZ" dirty="0"/>
              <a:t> </a:t>
            </a:r>
            <a:endParaRPr lang="tr-TR" dirty="0"/>
          </a:p>
          <a:p>
            <a:pPr fontAlgn="base"/>
            <a:r>
              <a:rPr lang="az-Latn-AZ" b="1" dirty="0"/>
              <a:t>Alqoritm:</a:t>
            </a:r>
            <a:r>
              <a:rPr lang="az-Latn-AZ" dirty="0"/>
              <a:t> </a:t>
            </a:r>
            <a:br>
              <a:rPr lang="az-Latn-AZ" dirty="0"/>
            </a:br>
            <a:r>
              <a:rPr lang="az-Latn-AZ" dirty="0"/>
              <a:t>Axtarılan element x olsun.</a:t>
            </a:r>
            <a:br>
              <a:rPr lang="az-Latn-AZ" dirty="0"/>
            </a:br>
            <a:r>
              <a:rPr lang="az-Latn-AZ" dirty="0"/>
              <a:t>İdeya əvvəlcə verilmiş massivin uzunluğundan böyük və ya ona bərabər olan ən kiçik Fibonaççi ədədini tapmaqdır. Tapılan Fibonaççi nömrəsi fib (m'ci Fibonacci nömrəsi) olsun. İndeks olaraq (m-2)'ci Fibonaççi nömrəsindən istifadə edirik (əgər bu etibarlı indeksdirsə). (m-2)'-ci Fibonaççi ədədi i olsun, arr[i] ilə x müqayisə edilir, əgər x eynidirsə, i qaytarırıq. Əgər x böyükdürsə, biz i-dən sonra alt massiv üçün təkrar edirik, əks halda i-dən əvvəl alt massiv üçün təkrar edirik.</a:t>
            </a:r>
            <a:endParaRPr lang="tr-TR" dirty="0"/>
          </a:p>
          <a:p>
            <a:endParaRPr lang="tr-TR" dirty="0"/>
          </a:p>
        </p:txBody>
      </p:sp>
    </p:spTree>
    <p:extLst>
      <p:ext uri="{BB962C8B-B14F-4D97-AF65-F5344CB8AC3E}">
        <p14:creationId xmlns:p14="http://schemas.microsoft.com/office/powerpoint/2010/main" val="984242719"/>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820920"/>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6" name="Grup 15"/>
          <p:cNvGrpSpPr/>
          <p:nvPr/>
        </p:nvGrpSpPr>
        <p:grpSpPr>
          <a:xfrm>
            <a:off x="0" y="0"/>
            <a:ext cx="12192000" cy="6858000"/>
            <a:chOff x="0" y="0"/>
            <a:chExt cx="12192000" cy="6858000"/>
          </a:xfrm>
        </p:grpSpPr>
        <p:sp>
          <p:nvSpPr>
            <p:cNvPr id="4" name="Dikdörtgen 3"/>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Serbest Form 9"/>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Metin kutusu 10"/>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TernarySearch</a:t>
              </a:r>
              <a:endParaRPr lang="tr-TR" b="1" dirty="0">
                <a:solidFill>
                  <a:schemeClr val="bg1"/>
                </a:solidFill>
                <a:latin typeface="Century Gothic" panose="020B0502020202020204" pitchFamily="34" charset="0"/>
              </a:endParaRPr>
            </a:p>
          </p:txBody>
        </p:sp>
        <p:sp>
          <p:nvSpPr>
            <p:cNvPr id="15" name="Köşeli Çift Ayraç 14"/>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17" name="Grup 16"/>
          <p:cNvGrpSpPr/>
          <p:nvPr/>
        </p:nvGrpSpPr>
        <p:grpSpPr>
          <a:xfrm>
            <a:off x="0" y="0"/>
            <a:ext cx="12192000" cy="6858000"/>
            <a:chOff x="0" y="0"/>
            <a:chExt cx="12192000" cy="6858000"/>
          </a:xfrm>
        </p:grpSpPr>
        <p:sp>
          <p:nvSpPr>
            <p:cNvPr id="18" name="Dikdörtgen 1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9" name="Serbest Form 1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Metin kutusu 19"/>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BinarySearch</a:t>
              </a:r>
              <a:endParaRPr lang="tr-TR" b="1" dirty="0">
                <a:solidFill>
                  <a:schemeClr val="bg1"/>
                </a:solidFill>
                <a:latin typeface="Century Gothic" panose="020B0502020202020204" pitchFamily="34" charset="0"/>
              </a:endParaRPr>
            </a:p>
          </p:txBody>
        </p:sp>
        <p:sp>
          <p:nvSpPr>
            <p:cNvPr id="21" name="Köşeli Çift Ayraç 2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2" name="Grup 21"/>
          <p:cNvGrpSpPr/>
          <p:nvPr/>
        </p:nvGrpSpPr>
        <p:grpSpPr>
          <a:xfrm>
            <a:off x="0" y="0"/>
            <a:ext cx="12192000" cy="6858000"/>
            <a:chOff x="0" y="0"/>
            <a:chExt cx="12192000" cy="6858000"/>
          </a:xfrm>
        </p:grpSpPr>
        <p:sp>
          <p:nvSpPr>
            <p:cNvPr id="23" name="Dikdörtgen 22"/>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4" name="Serbest Form 23"/>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Metin kutusu 24"/>
            <p:cNvSpPr txBox="1"/>
            <p:nvPr/>
          </p:nvSpPr>
          <p:spPr>
            <a:xfrm rot="16200000">
              <a:off x="11045037" y="3244334"/>
              <a:ext cx="1924594"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JumpSearch</a:t>
              </a:r>
              <a:endParaRPr lang="tr-TR" b="1" dirty="0">
                <a:solidFill>
                  <a:schemeClr val="bg1"/>
                </a:solidFill>
                <a:latin typeface="Century Gothic" panose="020B0502020202020204" pitchFamily="34" charset="0"/>
              </a:endParaRPr>
            </a:p>
          </p:txBody>
        </p:sp>
        <p:sp>
          <p:nvSpPr>
            <p:cNvPr id="26" name="Köşeli Çift Ayraç 25"/>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grpSp>
        <p:nvGrpSpPr>
          <p:cNvPr id="27" name="Grup 26"/>
          <p:cNvGrpSpPr/>
          <p:nvPr/>
        </p:nvGrpSpPr>
        <p:grpSpPr>
          <a:xfrm>
            <a:off x="0" y="0"/>
            <a:ext cx="12192001" cy="6858000"/>
            <a:chOff x="0" y="0"/>
            <a:chExt cx="12192001" cy="6858000"/>
          </a:xfrm>
        </p:grpSpPr>
        <p:sp>
          <p:nvSpPr>
            <p:cNvPr id="28" name="Dikdörtgen 27"/>
            <p:cNvSpPr/>
            <p:nvPr/>
          </p:nvSpPr>
          <p:spPr>
            <a:xfrm>
              <a:off x="0" y="0"/>
              <a:ext cx="12192000" cy="6858000"/>
            </a:xfrm>
            <a:prstGeom prst="rect">
              <a:avLst/>
            </a:prstGeom>
            <a:solidFill>
              <a:schemeClr val="bg1">
                <a:lumMod val="95000"/>
              </a:schemeClr>
            </a:solidFill>
            <a:ln>
              <a:noFill/>
            </a:ln>
            <a:effectLst>
              <a:outerShdw blurRad="101600" sx="101000" sy="101000" algn="ctr" rotWithShape="0">
                <a:srgbClr val="00000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9" name="Serbest Form 28"/>
            <p:cNvSpPr/>
            <p:nvPr/>
          </p:nvSpPr>
          <p:spPr>
            <a:xfrm>
              <a:off x="11129554" y="2123077"/>
              <a:ext cx="1062446" cy="2611846"/>
            </a:xfrm>
            <a:custGeom>
              <a:avLst/>
              <a:gdLst>
                <a:gd name="connsiteX0" fmla="*/ 1062446 w 1062446"/>
                <a:gd name="connsiteY0" fmla="*/ 0 h 2124892"/>
                <a:gd name="connsiteX1" fmla="*/ 1062446 w 1062446"/>
                <a:gd name="connsiteY1" fmla="*/ 2124892 h 2124892"/>
                <a:gd name="connsiteX2" fmla="*/ 0 w 1062446"/>
                <a:gd name="connsiteY2" fmla="*/ 1062446 h 2124892"/>
                <a:gd name="connsiteX3" fmla="*/ 1062446 w 1062446"/>
                <a:gd name="connsiteY3" fmla="*/ 0 h 2124892"/>
              </a:gdLst>
              <a:ahLst/>
              <a:cxnLst>
                <a:cxn ang="0">
                  <a:pos x="connsiteX0" y="connsiteY0"/>
                </a:cxn>
                <a:cxn ang="0">
                  <a:pos x="connsiteX1" y="connsiteY1"/>
                </a:cxn>
                <a:cxn ang="0">
                  <a:pos x="connsiteX2" y="connsiteY2"/>
                </a:cxn>
                <a:cxn ang="0">
                  <a:pos x="connsiteX3" y="connsiteY3"/>
                </a:cxn>
              </a:cxnLst>
              <a:rect l="l" t="t" r="r" b="b"/>
              <a:pathLst>
                <a:path w="1062446" h="2124892">
                  <a:moveTo>
                    <a:pt x="1062446" y="0"/>
                  </a:moveTo>
                  <a:lnTo>
                    <a:pt x="1062446" y="2124892"/>
                  </a:lnTo>
                  <a:cubicBezTo>
                    <a:pt x="475673" y="2124892"/>
                    <a:pt x="0" y="1649219"/>
                    <a:pt x="0" y="1062446"/>
                  </a:cubicBezTo>
                  <a:cubicBezTo>
                    <a:pt x="0" y="475673"/>
                    <a:pt x="475673" y="0"/>
                    <a:pt x="1062446" y="0"/>
                  </a:cubicBezTo>
                  <a:close/>
                </a:path>
              </a:pathLst>
            </a:cu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rot="16200000">
              <a:off x="10964846" y="3164142"/>
              <a:ext cx="2084978" cy="369332"/>
            </a:xfrm>
            <a:prstGeom prst="rect">
              <a:avLst/>
            </a:prstGeom>
            <a:noFill/>
          </p:spPr>
          <p:txBody>
            <a:bodyPr wrap="square" rtlCol="0">
              <a:spAutoFit/>
            </a:bodyPr>
            <a:lstStyle/>
            <a:p>
              <a:pPr algn="ctr"/>
              <a:r>
                <a:rPr lang="en-US" b="1" dirty="0" err="1" smtClean="0">
                  <a:solidFill>
                    <a:schemeClr val="bg1"/>
                  </a:solidFill>
                  <a:latin typeface="Century Gothic" panose="020B0502020202020204" pitchFamily="34" charset="0"/>
                </a:rPr>
                <a:t>FibonacciSearch</a:t>
              </a:r>
              <a:endParaRPr lang="tr-TR" b="1" dirty="0">
                <a:solidFill>
                  <a:schemeClr val="bg1"/>
                </a:solidFill>
                <a:latin typeface="Century Gothic" panose="020B0502020202020204" pitchFamily="34" charset="0"/>
              </a:endParaRPr>
            </a:p>
          </p:txBody>
        </p:sp>
        <p:sp>
          <p:nvSpPr>
            <p:cNvPr id="31" name="Köşeli Çift Ayraç 30"/>
            <p:cNvSpPr/>
            <p:nvPr/>
          </p:nvSpPr>
          <p:spPr>
            <a:xfrm>
              <a:off x="11223228" y="3124200"/>
              <a:ext cx="609600" cy="609600"/>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grpSp>
      <p:pic>
        <p:nvPicPr>
          <p:cNvPr id="32" name="Рисунок 1" descr="Fibonacci Search | Baeldung on Computer Science"/>
          <p:cNvPicPr/>
          <p:nvPr/>
        </p:nvPicPr>
        <p:blipFill>
          <a:blip r:embed="rId2">
            <a:extLst>
              <a:ext uri="{28A0092B-C50C-407E-A947-70E740481C1C}">
                <a14:useLocalDpi xmlns:a14="http://schemas.microsoft.com/office/drawing/2010/main" val="0"/>
              </a:ext>
            </a:extLst>
          </a:blip>
          <a:srcRect/>
          <a:stretch>
            <a:fillRect/>
          </a:stretch>
        </p:blipFill>
        <p:spPr bwMode="auto">
          <a:xfrm>
            <a:off x="2657543" y="416560"/>
            <a:ext cx="6876914" cy="6024880"/>
          </a:xfrm>
          <a:prstGeom prst="rect">
            <a:avLst/>
          </a:prstGeom>
          <a:noFill/>
          <a:ln w="38100">
            <a:solidFill>
              <a:schemeClr val="tx1"/>
            </a:solidFill>
          </a:ln>
        </p:spPr>
      </p:pic>
    </p:spTree>
    <p:extLst>
      <p:ext uri="{BB962C8B-B14F-4D97-AF65-F5344CB8AC3E}">
        <p14:creationId xmlns:p14="http://schemas.microsoft.com/office/powerpoint/2010/main" val="2733231855"/>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Unvan 1"/>
          <p:cNvSpPr>
            <a:spLocks noGrp="1"/>
          </p:cNvSpPr>
          <p:nvPr>
            <p:ph type="title"/>
          </p:nvPr>
        </p:nvSpPr>
        <p:spPr>
          <a:xfrm>
            <a:off x="1234440" y="2122805"/>
            <a:ext cx="10515600" cy="3800475"/>
          </a:xfrm>
          <a:noFill/>
        </p:spPr>
        <p:txBody>
          <a:bodyPr>
            <a:normAutofit/>
          </a:bodyPr>
          <a:lstStyle/>
          <a:p>
            <a:pPr algn="ctr"/>
            <a:r>
              <a:rPr lang="az-Latn-AZ" b="1" dirty="0" smtClean="0">
                <a:solidFill>
                  <a:schemeClr val="bg1"/>
                </a:solidFill>
                <a:latin typeface="Century Gothic" panose="020B0502020202020204" pitchFamily="34" charset="0"/>
              </a:rPr>
              <a:t>Dinlədiyiniz üçün Təşəkkür edirik !</a:t>
            </a:r>
            <a:r>
              <a:rPr lang="az-Latn-AZ" b="1" dirty="0" smtClean="0">
                <a:latin typeface="Century Gothic" panose="020B0502020202020204" pitchFamily="34" charset="0"/>
              </a:rPr>
              <a:t/>
            </a:r>
            <a:br>
              <a:rPr lang="az-Latn-AZ" b="1" dirty="0" smtClean="0">
                <a:latin typeface="Century Gothic" panose="020B0502020202020204" pitchFamily="34" charset="0"/>
              </a:rPr>
            </a:br>
            <a:r>
              <a:rPr lang="az-Latn-AZ" b="1" dirty="0">
                <a:latin typeface="Century Gothic" panose="020B0502020202020204" pitchFamily="34" charset="0"/>
              </a:rPr>
              <a:t/>
            </a:r>
            <a:br>
              <a:rPr lang="az-Latn-AZ" b="1" dirty="0">
                <a:latin typeface="Century Gothic" panose="020B0502020202020204" pitchFamily="34" charset="0"/>
              </a:rPr>
            </a:br>
            <a:r>
              <a:rPr lang="az-Latn-AZ" b="1" dirty="0" smtClean="0">
                <a:latin typeface="Century Gothic" panose="020B0502020202020204" pitchFamily="34" charset="0"/>
              </a:rPr>
              <a:t/>
            </a:r>
            <a:br>
              <a:rPr lang="az-Latn-AZ" b="1" dirty="0" smtClean="0">
                <a:latin typeface="Century Gothic" panose="020B0502020202020204" pitchFamily="34" charset="0"/>
              </a:rPr>
            </a:br>
            <a:r>
              <a:rPr lang="az-Latn-AZ" b="1" dirty="0">
                <a:latin typeface="Century Gothic" panose="020B0502020202020204" pitchFamily="34" charset="0"/>
              </a:rPr>
              <a:t/>
            </a:r>
            <a:br>
              <a:rPr lang="az-Latn-AZ" b="1" dirty="0">
                <a:latin typeface="Century Gothic" panose="020B0502020202020204" pitchFamily="34" charset="0"/>
              </a:rPr>
            </a:br>
            <a:r>
              <a:rPr lang="az-Latn-AZ" b="1" dirty="0" smtClean="0">
                <a:latin typeface="Century Gothic" panose="020B0502020202020204" pitchFamily="34" charset="0"/>
              </a:rPr>
              <a:t/>
            </a:r>
            <a:br>
              <a:rPr lang="az-Latn-AZ" b="1" dirty="0" smtClean="0">
                <a:latin typeface="Century Gothic" panose="020B0502020202020204" pitchFamily="34" charset="0"/>
              </a:rPr>
            </a:br>
            <a:endParaRPr lang="tr-TR" b="1" i="1" dirty="0">
              <a:latin typeface="Century Gothic" panose="020B0502020202020204" pitchFamily="34" charset="0"/>
            </a:endParaRPr>
          </a:p>
        </p:txBody>
      </p:sp>
      <p:sp>
        <p:nvSpPr>
          <p:cNvPr id="3" name="Metin kutusu 2"/>
          <p:cNvSpPr txBox="1"/>
          <p:nvPr/>
        </p:nvSpPr>
        <p:spPr>
          <a:xfrm>
            <a:off x="3431253" y="3537129"/>
            <a:ext cx="5654614" cy="1569660"/>
          </a:xfrm>
          <a:prstGeom prst="rect">
            <a:avLst/>
          </a:prstGeom>
          <a:noFill/>
        </p:spPr>
        <p:txBody>
          <a:bodyPr wrap="square" rtlCol="0">
            <a:spAutoFit/>
          </a:bodyPr>
          <a:lstStyle/>
          <a:p>
            <a:pPr algn="ctr"/>
            <a:r>
              <a:rPr lang="en-US" sz="2400" dirty="0" smtClean="0">
                <a:solidFill>
                  <a:schemeClr val="bg1"/>
                </a:solidFill>
              </a:rPr>
              <a:t>F</a:t>
            </a:r>
            <a:r>
              <a:rPr lang="az-Latn-AZ" sz="2400" dirty="0" smtClean="0">
                <a:solidFill>
                  <a:schemeClr val="bg1"/>
                </a:solidFill>
              </a:rPr>
              <a:t>ərid Əliyev</a:t>
            </a:r>
          </a:p>
          <a:p>
            <a:pPr algn="ctr"/>
            <a:r>
              <a:rPr lang="az-Latn-AZ" sz="2400" dirty="0" smtClean="0">
                <a:solidFill>
                  <a:schemeClr val="bg1"/>
                </a:solidFill>
              </a:rPr>
              <a:t>Emil Huseynov</a:t>
            </a:r>
          </a:p>
          <a:p>
            <a:pPr algn="ctr"/>
            <a:r>
              <a:rPr lang="az-Latn-AZ" sz="2400" dirty="0" smtClean="0">
                <a:solidFill>
                  <a:schemeClr val="bg1"/>
                </a:solidFill>
              </a:rPr>
              <a:t>Əsəd Abbasov</a:t>
            </a:r>
          </a:p>
          <a:p>
            <a:pPr algn="ctr"/>
            <a:r>
              <a:rPr lang="az-Latn-AZ" sz="2400" dirty="0" smtClean="0">
                <a:solidFill>
                  <a:schemeClr val="bg1"/>
                </a:solidFill>
              </a:rPr>
              <a:t>Xədicə Xasıyeva</a:t>
            </a:r>
            <a:endParaRPr lang="tr-TR" sz="2400" dirty="0">
              <a:solidFill>
                <a:schemeClr val="bg1"/>
              </a:solidFill>
            </a:endParaRPr>
          </a:p>
        </p:txBody>
      </p:sp>
    </p:spTree>
    <p:extLst>
      <p:ext uri="{BB962C8B-B14F-4D97-AF65-F5344CB8AC3E}">
        <p14:creationId xmlns:p14="http://schemas.microsoft.com/office/powerpoint/2010/main" val="5365233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887</Words>
  <Application>Microsoft Office PowerPoint</Application>
  <PresentationFormat>Geniş ekran</PresentationFormat>
  <Paragraphs>173</Paragraphs>
  <Slides>26</Slides>
  <Notes>0</Notes>
  <HiddenSlides>0</HiddenSlides>
  <MMClips>0</MMClips>
  <ScaleCrop>false</ScaleCrop>
  <HeadingPairs>
    <vt:vector size="8" baseType="variant">
      <vt:variant>
        <vt:lpstr>Kullanılan Yazı Tipleri</vt:lpstr>
      </vt:variant>
      <vt:variant>
        <vt:i4>4</vt:i4>
      </vt:variant>
      <vt:variant>
        <vt:lpstr>Tema</vt:lpstr>
      </vt:variant>
      <vt:variant>
        <vt:i4>1</vt:i4>
      </vt:variant>
      <vt:variant>
        <vt:lpstr>Eklenmiş OLE Hizmet Programları</vt:lpstr>
      </vt:variant>
      <vt:variant>
        <vt:i4>2</vt:i4>
      </vt:variant>
      <vt:variant>
        <vt:lpstr>Slayt Başlıkları</vt:lpstr>
      </vt:variant>
      <vt:variant>
        <vt:i4>26</vt:i4>
      </vt:variant>
    </vt:vector>
  </HeadingPairs>
  <TitlesOfParts>
    <vt:vector size="33" baseType="lpstr">
      <vt:lpstr>Arial</vt:lpstr>
      <vt:lpstr>Calibri</vt:lpstr>
      <vt:lpstr>Calibri Light</vt:lpstr>
      <vt:lpstr>Century Gothic</vt:lpstr>
      <vt:lpstr>Office Teması</vt:lpstr>
      <vt:lpstr>Picture (Device Independent Bitmap)</vt:lpstr>
      <vt:lpstr>Picture (Metafile)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Dinlədiyiniz üçün Təşəkkür edirik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Asus</dc:creator>
  <cp:lastModifiedBy>Asus</cp:lastModifiedBy>
  <cp:revision>10</cp:revision>
  <dcterms:created xsi:type="dcterms:W3CDTF">2023-10-01T17:56:53Z</dcterms:created>
  <dcterms:modified xsi:type="dcterms:W3CDTF">2023-10-01T19:21:38Z</dcterms:modified>
</cp:coreProperties>
</file>